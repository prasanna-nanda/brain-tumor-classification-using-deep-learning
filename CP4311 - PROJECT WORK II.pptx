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60" r:id="rId4"/>
    <p:sldId id="261" r:id="rId5"/>
    <p:sldId id="262" r:id="rId6"/>
    <p:sldId id="263" r:id="rId7"/>
    <p:sldId id="264" r:id="rId8"/>
    <p:sldId id="265" r:id="rId9"/>
    <p:sldId id="266" r:id="rId10"/>
    <p:sldId id="280"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81"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476"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5410534-18D3-4C76-B8A6-3FF479840D48}"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86B907-DFB0-4E1F-B817-57CFCAF074F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410534-18D3-4C76-B8A6-3FF479840D48}"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86B907-DFB0-4E1F-B817-57CFCAF074F9}" type="slidenum">
              <a:rPr lang="en-IN" smtClean="0"/>
              <a:t>‹#›</a:t>
            </a:fld>
            <a:endParaRPr lang="en-IN"/>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5410534-18D3-4C76-B8A6-3FF479840D48}"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86B907-DFB0-4E1F-B817-57CFCAF074F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65410534-18D3-4C76-B8A6-3FF479840D48}"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86B907-DFB0-4E1F-B817-57CFCAF074F9}" type="slidenum">
              <a:rPr lang="en-IN" smtClean="0"/>
              <a:t>‹#›</a:t>
            </a:fld>
            <a:endParaRPr lang="en-IN"/>
          </a:p>
        </p:txBody>
      </p:sp>
      <p:sp>
        <p:nvSpPr>
          <p:cNvPr id="9" name="Content Placeholder 8"/>
          <p:cNvSpPr>
            <a:spLocks noGrp="1"/>
          </p:cNvSpPr>
          <p:nvPr>
            <p:ph sz="quarter" idx="13"/>
          </p:nvPr>
        </p:nvSpPr>
        <p:spPr>
          <a:xfrm>
            <a:off x="676655"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5410534-18D3-4C76-B8A6-3FF479840D48}" type="datetimeFigureOut">
              <a:rPr lang="en-IN" smtClean="0"/>
              <a:t>23-06-2025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986B907-DFB0-4E1F-B817-57CFCAF074F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5410534-18D3-4C76-B8A6-3FF479840D48}" type="datetimeFigureOut">
              <a:rPr lang="en-IN" smtClean="0"/>
              <a:t>23-06-2025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986B907-DFB0-4E1F-B817-57CFCAF074F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65410534-18D3-4C76-B8A6-3FF479840D48}" type="datetimeFigureOut">
              <a:rPr lang="en-IN" smtClean="0"/>
              <a:t>23-06-2025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986B907-DFB0-4E1F-B817-57CFCAF074F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65410534-18D3-4C76-B8A6-3FF479840D48}"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86B907-DFB0-4E1F-B817-57CFCAF074F9}" type="slidenum">
              <a:rPr lang="en-IN" smtClean="0"/>
              <a:t>‹#›</a:t>
            </a:fld>
            <a:endParaRPr lang="en-IN"/>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5410534-18D3-4C76-B8A6-3FF479840D48}" type="datetimeFigureOut">
              <a:rPr lang="en-IN" smtClean="0"/>
              <a:t>23-06-2025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86B907-DFB0-4E1F-B817-57CFCAF074F9}" type="slidenum">
              <a:rPr lang="en-IN" smtClean="0"/>
              <a:t>‹#›</a:t>
            </a:fld>
            <a:endParaRPr lang="en-IN"/>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5410534-18D3-4C76-B8A6-3FF479840D48}"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86B907-DFB0-4E1F-B817-57CFCAF074F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65410534-18D3-4C76-B8A6-3FF479840D48}" type="datetimeFigureOut">
              <a:rPr lang="en-IN" smtClean="0"/>
              <a:t>23-06-2025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86B907-DFB0-4E1F-B817-57CFCAF074F9}" type="slidenum">
              <a:rPr lang="en-IN" smtClean="0"/>
              <a:t>‹#›</a:t>
            </a:fld>
            <a:endParaRPr lang="en-IN"/>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65410534-18D3-4C76-B8A6-3FF479840D48}" type="datetimeFigureOut">
              <a:rPr lang="en-IN" smtClean="0"/>
              <a:t>23-06-2025</a:t>
            </a:fld>
            <a:endParaRPr lang="en-IN"/>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IN"/>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2986B907-DFB0-4E1F-B817-57CFCAF074F9}" type="slidenum">
              <a:rPr lang="en-IN" smtClean="0"/>
              <a:t>‹#›</a:t>
            </a:fld>
            <a:endParaRPr lang="en-IN"/>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1124744"/>
            <a:ext cx="7772400" cy="1470025"/>
          </a:xfrm>
        </p:spPr>
        <p:txBody>
          <a:bodyPr>
            <a:noAutofit/>
          </a:bodyPr>
          <a:lstStyle/>
          <a:p>
            <a:r>
              <a:rPr lang="en-US" sz="3500" b="1" dirty="0" smtClean="0">
                <a:latin typeface="Times New Roman" panose="02020603050405020304" pitchFamily="18" charset="0"/>
                <a:cs typeface="Times New Roman" panose="02020603050405020304" pitchFamily="18" charset="0"/>
              </a:rPr>
              <a:t>BRAIN TUMORS CLASSIFICATION </a:t>
            </a:r>
            <a:r>
              <a:rPr lang="en-US" sz="3500" b="1" dirty="0">
                <a:latin typeface="Times New Roman" panose="02020603050405020304" pitchFamily="18" charset="0"/>
                <a:cs typeface="Times New Roman" panose="02020603050405020304" pitchFamily="18" charset="0"/>
              </a:rPr>
              <a:t>USING DEEP LEARNING ALGORITHMS</a:t>
            </a:r>
            <a:r>
              <a:rPr lang="en-IN" sz="3500" b="1" dirty="0">
                <a:latin typeface="Times New Roman" panose="02020603050405020304" pitchFamily="18" charset="0"/>
                <a:cs typeface="Times New Roman" panose="02020603050405020304" pitchFamily="18" charset="0"/>
              </a:rPr>
              <a:t/>
            </a:r>
            <a:br>
              <a:rPr lang="en-IN" sz="3500" b="1" dirty="0">
                <a:latin typeface="Times New Roman" panose="02020603050405020304" pitchFamily="18" charset="0"/>
                <a:cs typeface="Times New Roman" panose="02020603050405020304" pitchFamily="18" charset="0"/>
              </a:rPr>
            </a:br>
            <a:endParaRPr lang="en-IN" sz="3500" b="1" dirty="0"/>
          </a:p>
        </p:txBody>
      </p:sp>
      <p:sp>
        <p:nvSpPr>
          <p:cNvPr id="3" name="Subtitle 2"/>
          <p:cNvSpPr>
            <a:spLocks noGrp="1"/>
          </p:cNvSpPr>
          <p:nvPr>
            <p:ph type="subTitle" idx="1"/>
          </p:nvPr>
        </p:nvSpPr>
        <p:spPr>
          <a:xfrm>
            <a:off x="899592" y="3140968"/>
            <a:ext cx="3488432" cy="2423120"/>
          </a:xfrm>
        </p:spPr>
        <p:txBody>
          <a:bodyPr>
            <a:normAutofit/>
          </a:bodyPr>
          <a:lstStyle/>
          <a:p>
            <a:pPr algn="l">
              <a:lnSpc>
                <a:spcPct val="115000"/>
              </a:lnSpc>
              <a:buClr>
                <a:schemeClr val="dk1"/>
              </a:buClr>
              <a:buSzPts val="1100"/>
            </a:pPr>
            <a:r>
              <a:rPr lang="en-US" sz="2500" b="1" dirty="0" smtClean="0">
                <a:solidFill>
                  <a:schemeClr val="dk1"/>
                </a:solidFill>
                <a:latin typeface="Times New Roman" panose="02020603050405020304" pitchFamily="18" charset="0"/>
                <a:cs typeface="Times New Roman" panose="02020603050405020304" pitchFamily="18" charset="0"/>
              </a:rPr>
              <a:t>PRESENTED BY,</a:t>
            </a:r>
          </a:p>
          <a:p>
            <a:pPr algn="l">
              <a:lnSpc>
                <a:spcPct val="115000"/>
              </a:lnSpc>
              <a:buClr>
                <a:schemeClr val="dk1"/>
              </a:buClr>
              <a:buSzPts val="1100"/>
            </a:pPr>
            <a:r>
              <a:rPr lang="en-US" sz="2500" b="1" dirty="0" smtClean="0">
                <a:solidFill>
                  <a:schemeClr val="dk1"/>
                </a:solidFill>
                <a:latin typeface="Times New Roman" panose="02020603050405020304" pitchFamily="18" charset="0"/>
                <a:cs typeface="Times New Roman" panose="02020603050405020304" pitchFamily="18" charset="0"/>
              </a:rPr>
              <a:t>N.PRASANNA,</a:t>
            </a:r>
          </a:p>
          <a:p>
            <a:pPr algn="l">
              <a:lnSpc>
                <a:spcPct val="115000"/>
              </a:lnSpc>
              <a:buClr>
                <a:schemeClr val="dk1"/>
              </a:buClr>
              <a:buSzPts val="1100"/>
            </a:pPr>
            <a:r>
              <a:rPr lang="en-US" sz="2500" b="1" dirty="0" smtClean="0">
                <a:solidFill>
                  <a:schemeClr val="dk1"/>
                </a:solidFill>
                <a:latin typeface="Times New Roman" panose="02020603050405020304" pitchFamily="18" charset="0"/>
                <a:cs typeface="Times New Roman" panose="02020603050405020304" pitchFamily="18" charset="0"/>
              </a:rPr>
              <a:t>M.E., II YEAR,</a:t>
            </a:r>
          </a:p>
          <a:p>
            <a:pPr algn="l">
              <a:lnSpc>
                <a:spcPct val="115000"/>
              </a:lnSpc>
              <a:buClr>
                <a:schemeClr val="dk1"/>
              </a:buClr>
              <a:buSzPts val="1100"/>
            </a:pPr>
            <a:r>
              <a:rPr lang="en-US" sz="2500" b="1" dirty="0" smtClean="0">
                <a:solidFill>
                  <a:schemeClr val="dk1"/>
                </a:solidFill>
                <a:latin typeface="Times New Roman" panose="02020603050405020304" pitchFamily="18" charset="0"/>
                <a:cs typeface="Times New Roman" panose="02020603050405020304" pitchFamily="18" charset="0"/>
              </a:rPr>
              <a:t>813823405002.</a:t>
            </a:r>
          </a:p>
          <a:p>
            <a:endParaRPr lang="en-IN" sz="2500" dirty="0"/>
          </a:p>
        </p:txBody>
      </p:sp>
      <p:sp>
        <p:nvSpPr>
          <p:cNvPr id="4" name="Subtitle 2"/>
          <p:cNvSpPr txBox="1">
            <a:spLocks/>
          </p:cNvSpPr>
          <p:nvPr/>
        </p:nvSpPr>
        <p:spPr>
          <a:xfrm>
            <a:off x="5076056" y="3861048"/>
            <a:ext cx="2984376" cy="242312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endParaRPr lang="en-IN" dirty="0"/>
          </a:p>
        </p:txBody>
      </p:sp>
      <p:sp>
        <p:nvSpPr>
          <p:cNvPr id="5" name="Subtitle 2"/>
          <p:cNvSpPr txBox="1">
            <a:spLocks/>
          </p:cNvSpPr>
          <p:nvPr/>
        </p:nvSpPr>
        <p:spPr>
          <a:xfrm>
            <a:off x="5076056" y="3864471"/>
            <a:ext cx="2984376" cy="242312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endParaRPr lang="en-IN" dirty="0"/>
          </a:p>
        </p:txBody>
      </p:sp>
      <p:sp>
        <p:nvSpPr>
          <p:cNvPr id="6" name="Subtitle 2"/>
          <p:cNvSpPr txBox="1">
            <a:spLocks/>
          </p:cNvSpPr>
          <p:nvPr/>
        </p:nvSpPr>
        <p:spPr>
          <a:xfrm>
            <a:off x="4572000" y="3140968"/>
            <a:ext cx="3744416" cy="242312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lvl="0" algn="l" defTabSz="1219170">
              <a:spcBef>
                <a:spcPts val="0"/>
              </a:spcBef>
              <a:buClr>
                <a:srgbClr val="000000"/>
              </a:buClr>
              <a:defRPr/>
            </a:pPr>
            <a:r>
              <a:rPr lang="en-US" sz="2500" b="1" kern="0" dirty="0">
                <a:solidFill>
                  <a:srgbClr val="000000"/>
                </a:solidFill>
                <a:highlight>
                  <a:srgbClr val="FFFFFF"/>
                </a:highlight>
                <a:latin typeface="Times New Roman" panose="02020603050405020304" pitchFamily="18" charset="0"/>
                <a:cs typeface="Times New Roman" panose="02020603050405020304" pitchFamily="18" charset="0"/>
                <a:sym typeface="Arial"/>
              </a:rPr>
              <a:t>GUIDED BY,</a:t>
            </a:r>
          </a:p>
          <a:p>
            <a:pPr lvl="0" algn="l" defTabSz="1219170">
              <a:spcBef>
                <a:spcPts val="1600"/>
              </a:spcBef>
              <a:buClr>
                <a:srgbClr val="000000"/>
              </a:buClr>
              <a:buSzPts val="1100"/>
              <a:defRPr/>
            </a:pPr>
            <a:r>
              <a:rPr lang="en-US" sz="2500" b="1" kern="0" dirty="0">
                <a:solidFill>
                  <a:srgbClr val="000000"/>
                </a:solidFill>
                <a:highlight>
                  <a:srgbClr val="FFFFFF"/>
                </a:highlight>
                <a:latin typeface="Times New Roman" panose="02020603050405020304" pitchFamily="18" charset="0"/>
                <a:cs typeface="Times New Roman" panose="02020603050405020304" pitchFamily="18" charset="0"/>
                <a:sym typeface="Arial"/>
              </a:rPr>
              <a:t>DR. V PUNITHA,</a:t>
            </a:r>
          </a:p>
          <a:p>
            <a:pPr lvl="0" algn="l" defTabSz="1219170">
              <a:spcBef>
                <a:spcPts val="1600"/>
              </a:spcBef>
              <a:spcAft>
                <a:spcPts val="1600"/>
              </a:spcAft>
              <a:buClr>
                <a:srgbClr val="000000"/>
              </a:buClr>
              <a:buSzPts val="1100"/>
              <a:defRPr/>
            </a:pPr>
            <a:r>
              <a:rPr lang="en-US" sz="2500" b="1" kern="0" dirty="0">
                <a:solidFill>
                  <a:srgbClr val="000000"/>
                </a:solidFill>
                <a:highlight>
                  <a:srgbClr val="FFFFFF"/>
                </a:highlight>
                <a:latin typeface="Times New Roman" panose="02020603050405020304" pitchFamily="18" charset="0"/>
                <a:cs typeface="Times New Roman" panose="02020603050405020304" pitchFamily="18" charset="0"/>
                <a:sym typeface="Arial"/>
              </a:rPr>
              <a:t>PROFESSOR &amp; HEAD OF THE DEPARTMENT</a:t>
            </a:r>
            <a:r>
              <a:rPr lang="en-US" sz="2500" kern="0" dirty="0">
                <a:solidFill>
                  <a:srgbClr val="000000"/>
                </a:solidFill>
                <a:highlight>
                  <a:srgbClr val="FFFFFF"/>
                </a:highlight>
                <a:latin typeface="Times New Roman" panose="02020603050405020304" pitchFamily="18" charset="0"/>
                <a:cs typeface="Times New Roman" panose="02020603050405020304" pitchFamily="18" charset="0"/>
                <a:sym typeface="Arial"/>
              </a:rPr>
              <a:t>.</a:t>
            </a:r>
          </a:p>
        </p:txBody>
      </p:sp>
    </p:spTree>
    <p:extLst>
      <p:ext uri="{BB962C8B-B14F-4D97-AF65-F5344CB8AC3E}">
        <p14:creationId xmlns:p14="http://schemas.microsoft.com/office/powerpoint/2010/main" val="4743968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IN" sz="2000" dirty="0">
                <a:latin typeface="Times New Roman" panose="02020603050405020304" pitchFamily="18" charset="0"/>
                <a:cs typeface="Times New Roman" panose="02020603050405020304" pitchFamily="18" charset="0"/>
              </a:rPr>
              <a:t>Develop an accurate deep learning system for automated detection and classification of brain </a:t>
            </a:r>
            <a:r>
              <a:rPr lang="en-IN" sz="2000" dirty="0" err="1">
                <a:latin typeface="Times New Roman" panose="02020603050405020304" pitchFamily="18" charset="0"/>
                <a:cs typeface="Times New Roman" panose="02020603050405020304" pitchFamily="18" charset="0"/>
              </a:rPr>
              <a:t>tumors</a:t>
            </a:r>
            <a:r>
              <a:rPr lang="en-IN" sz="2000" dirty="0">
                <a:latin typeface="Times New Roman" panose="02020603050405020304" pitchFamily="18" charset="0"/>
                <a:cs typeface="Times New Roman" panose="02020603050405020304" pitchFamily="18" charset="0"/>
              </a:rPr>
              <a:t> from MRI images to aid healthcare professionals in diagnosis and treatment planning.</a:t>
            </a:r>
          </a:p>
          <a:p>
            <a:r>
              <a:rPr lang="en-IN" sz="2000" dirty="0" smtClean="0">
                <a:latin typeface="Times New Roman" panose="02020603050405020304" pitchFamily="18" charset="0"/>
                <a:cs typeface="Times New Roman" panose="02020603050405020304" pitchFamily="18" charset="0"/>
              </a:rPr>
              <a:t>Gather </a:t>
            </a:r>
            <a:r>
              <a:rPr lang="en-IN" sz="2000" dirty="0">
                <a:latin typeface="Times New Roman" panose="02020603050405020304" pitchFamily="18" charset="0"/>
                <a:cs typeface="Times New Roman" panose="02020603050405020304" pitchFamily="18" charset="0"/>
              </a:rPr>
              <a:t>a dataset of brain MRI images, including normal scans and various types of </a:t>
            </a:r>
            <a:r>
              <a:rPr lang="en-IN" sz="2000" dirty="0" err="1">
                <a:latin typeface="Times New Roman" panose="02020603050405020304" pitchFamily="18" charset="0"/>
                <a:cs typeface="Times New Roman" panose="02020603050405020304" pitchFamily="18" charset="0"/>
              </a:rPr>
              <a:t>tumors</a:t>
            </a:r>
            <a:r>
              <a:rPr lang="en-IN" sz="2000" dirty="0">
                <a:latin typeface="Times New Roman" panose="02020603050405020304" pitchFamily="18" charset="0"/>
                <a:cs typeface="Times New Roman" panose="02020603050405020304" pitchFamily="18" charset="0"/>
              </a:rPr>
              <a:t> (</a:t>
            </a:r>
            <a:r>
              <a:rPr lang="en-IN" sz="2000" dirty="0" err="1" smtClean="0">
                <a:latin typeface="Times New Roman" panose="02020603050405020304" pitchFamily="18" charset="0"/>
                <a:cs typeface="Times New Roman" panose="02020603050405020304" pitchFamily="18" charset="0"/>
              </a:rPr>
              <a:t>Glioma</a:t>
            </a:r>
            <a:r>
              <a:rPr lang="en-IN" sz="2000" dirty="0">
                <a:latin typeface="Times New Roman" panose="02020603050405020304" pitchFamily="18" charset="0"/>
                <a:cs typeface="Times New Roman" panose="02020603050405020304" pitchFamily="18" charset="0"/>
              </a:rPr>
              <a:t>, Meningioma, Pituitary</a:t>
            </a:r>
            <a:r>
              <a:rPr lang="en-IN" sz="2000" dirty="0" smtClean="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Implement </a:t>
            </a:r>
            <a:r>
              <a:rPr lang="en-IN" sz="2000" dirty="0" err="1">
                <a:latin typeface="Times New Roman" panose="02020603050405020304" pitchFamily="18" charset="0"/>
                <a:cs typeface="Times New Roman" panose="02020603050405020304" pitchFamily="18" charset="0"/>
              </a:rPr>
              <a:t>preprocessing</a:t>
            </a:r>
            <a:r>
              <a:rPr lang="en-IN" sz="2000" dirty="0">
                <a:latin typeface="Times New Roman" panose="02020603050405020304" pitchFamily="18" charset="0"/>
                <a:cs typeface="Times New Roman" panose="02020603050405020304" pitchFamily="18" charset="0"/>
              </a:rPr>
              <a:t> techniques like normalization, noise reduction, </a:t>
            </a:r>
            <a:r>
              <a:rPr lang="en-IN" sz="2000" dirty="0" smtClean="0">
                <a:latin typeface="Times New Roman" panose="02020603050405020304" pitchFamily="18" charset="0"/>
                <a:cs typeface="Times New Roman" panose="02020603050405020304" pitchFamily="18" charset="0"/>
              </a:rPr>
              <a:t>contrast </a:t>
            </a:r>
            <a:r>
              <a:rPr lang="en-IN" sz="2000" dirty="0">
                <a:latin typeface="Times New Roman" panose="02020603050405020304" pitchFamily="18" charset="0"/>
                <a:cs typeface="Times New Roman" panose="02020603050405020304" pitchFamily="18" charset="0"/>
              </a:rPr>
              <a:t>enhancement, and data augmentation</a:t>
            </a:r>
            <a:r>
              <a:rPr lang="en-IN" sz="2000" dirty="0" smtClean="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Design and implement multiple deep learning architectures (e.g., VGG16, ResNet50, Inception V3</a:t>
            </a:r>
            <a:r>
              <a:rPr lang="en-IN" sz="2000" dirty="0" smtClean="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Optimize model parameters for high accuracy, reduced errors, computational efficiency, and real-time processing.</a:t>
            </a:r>
          </a:p>
        </p:txBody>
      </p:sp>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OBJECTIVES</a:t>
            </a:r>
            <a:endParaRPr lang="en-IN" sz="3200" b="1" dirty="0"/>
          </a:p>
        </p:txBody>
      </p:sp>
    </p:spTree>
    <p:extLst>
      <p:ext uri="{BB962C8B-B14F-4D97-AF65-F5344CB8AC3E}">
        <p14:creationId xmlns:p14="http://schemas.microsoft.com/office/powerpoint/2010/main" val="32578439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lgn="just">
              <a:buNone/>
            </a:pPr>
            <a:r>
              <a:rPr lang="en-US" sz="2200" dirty="0" smtClean="0">
                <a:latin typeface="Times New Roman" panose="02020603050405020304" pitchFamily="18" charset="0"/>
                <a:cs typeface="Times New Roman" panose="02020603050405020304" pitchFamily="18" charset="0"/>
              </a:rPr>
              <a:t>There are many state-of-the-art deep learning models that have been developed in recent years. Some of the most popular models are:</a:t>
            </a:r>
            <a:endParaRPr lang="en-IN" sz="2200" dirty="0" smtClean="0">
              <a:latin typeface="Times New Roman" panose="02020603050405020304" pitchFamily="18" charset="0"/>
              <a:cs typeface="Times New Roman" panose="02020603050405020304" pitchFamily="18" charset="0"/>
            </a:endParaRPr>
          </a:p>
          <a:p>
            <a:pPr marL="457200" indent="-457200" algn="just"/>
            <a:r>
              <a:rPr lang="en-US" sz="2200" dirty="0" smtClean="0">
                <a:latin typeface="Times New Roman" panose="02020603050405020304" pitchFamily="18" charset="0"/>
                <a:cs typeface="Times New Roman" panose="02020603050405020304" pitchFamily="18" charset="0"/>
              </a:rPr>
              <a:t>Visual Geometry Group16 (VGG16)</a:t>
            </a:r>
            <a:endParaRPr lang="en-IN" sz="2200" dirty="0" smtClean="0">
              <a:latin typeface="Times New Roman" panose="02020603050405020304" pitchFamily="18" charset="0"/>
              <a:cs typeface="Times New Roman" panose="02020603050405020304" pitchFamily="18" charset="0"/>
            </a:endParaRPr>
          </a:p>
          <a:p>
            <a:pPr marL="457200" indent="-457200" algn="just"/>
            <a:r>
              <a:rPr lang="en-US" sz="2200" dirty="0" smtClean="0">
                <a:latin typeface="Times New Roman" panose="02020603050405020304" pitchFamily="18" charset="0"/>
                <a:cs typeface="Times New Roman" panose="02020603050405020304" pitchFamily="18" charset="0"/>
              </a:rPr>
              <a:t>Inception V3</a:t>
            </a:r>
            <a:endParaRPr lang="en-IN" sz="2200" dirty="0" smtClean="0">
              <a:latin typeface="Times New Roman" panose="02020603050405020304" pitchFamily="18" charset="0"/>
              <a:cs typeface="Times New Roman" panose="02020603050405020304" pitchFamily="18" charset="0"/>
            </a:endParaRPr>
          </a:p>
          <a:p>
            <a:pPr marL="457200" indent="-457200" algn="just"/>
            <a:r>
              <a:rPr lang="en-US" sz="2200" dirty="0" smtClean="0">
                <a:latin typeface="Times New Roman" panose="02020603050405020304" pitchFamily="18" charset="0"/>
                <a:cs typeface="Times New Roman" panose="02020603050405020304" pitchFamily="18" charset="0"/>
              </a:rPr>
              <a:t>Deep Residual Network (ResNet-50)</a:t>
            </a:r>
          </a:p>
          <a:p>
            <a:pPr marL="457200" indent="-457200" algn="just"/>
            <a:r>
              <a:rPr lang="en-US" sz="2200" dirty="0" smtClean="0">
                <a:latin typeface="Times New Roman" panose="02020603050405020304" pitchFamily="18" charset="0"/>
                <a:cs typeface="Times New Roman" panose="02020603050405020304" pitchFamily="18" charset="0"/>
              </a:rPr>
              <a:t>Deep Belief Network (DBN)</a:t>
            </a:r>
          </a:p>
          <a:p>
            <a:pPr marL="0" indent="0" algn="just">
              <a:buNone/>
            </a:pPr>
            <a:r>
              <a:rPr lang="en-US" sz="2200" dirty="0" smtClean="0">
                <a:latin typeface="Times New Roman" panose="02020603050405020304" pitchFamily="18" charset="0"/>
                <a:cs typeface="Times New Roman" panose="02020603050405020304" pitchFamily="18" charset="0"/>
              </a:rPr>
              <a:t>Deep learning algorithms can handle large datasets, which is often necessary for training high-performance image classification models.</a:t>
            </a:r>
          </a:p>
          <a:p>
            <a:endParaRPr lang="en-IN" dirty="0"/>
          </a:p>
        </p:txBody>
      </p:sp>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MOTIVATION</a:t>
            </a:r>
            <a:endParaRPr lang="en-IN" b="1" dirty="0"/>
          </a:p>
        </p:txBody>
      </p:sp>
    </p:spTree>
    <p:extLst>
      <p:ext uri="{BB962C8B-B14F-4D97-AF65-F5344CB8AC3E}">
        <p14:creationId xmlns:p14="http://schemas.microsoft.com/office/powerpoint/2010/main" val="16073070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1143000"/>
          </a:xfrm>
        </p:spPr>
        <p:txBody>
          <a:bodyPr/>
          <a:lstStyle/>
          <a:p>
            <a:r>
              <a:rPr lang="en-IN" b="1" dirty="0">
                <a:latin typeface="Times New Roman" panose="02020603050405020304" pitchFamily="18" charset="0"/>
                <a:cs typeface="Times New Roman" panose="02020603050405020304" pitchFamily="18" charset="0"/>
              </a:rPr>
              <a:t>L</a:t>
            </a:r>
            <a:r>
              <a:rPr lang="en-IN" b="1" dirty="0" smtClean="0">
                <a:latin typeface="Times New Roman" panose="02020603050405020304" pitchFamily="18" charset="0"/>
                <a:cs typeface="Times New Roman" panose="02020603050405020304" pitchFamily="18" charset="0"/>
              </a:rPr>
              <a:t>iterature </a:t>
            </a:r>
            <a:r>
              <a:rPr lang="en-IN" b="1" dirty="0">
                <a:latin typeface="Times New Roman" panose="02020603050405020304" pitchFamily="18" charset="0"/>
                <a:cs typeface="Times New Roman" panose="02020603050405020304" pitchFamily="18" charset="0"/>
              </a:rPr>
              <a:t>S</a:t>
            </a:r>
            <a:r>
              <a:rPr lang="en-IN" b="1" dirty="0" smtClean="0">
                <a:latin typeface="Times New Roman" panose="02020603050405020304" pitchFamily="18" charset="0"/>
                <a:cs typeface="Times New Roman" panose="02020603050405020304" pitchFamily="18" charset="0"/>
              </a:rPr>
              <a:t>urvey</a:t>
            </a:r>
            <a:endParaRPr lang="en-IN" b="1"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619547852"/>
              </p:ext>
            </p:extLst>
          </p:nvPr>
        </p:nvGraphicFramePr>
        <p:xfrm>
          <a:off x="611560" y="1130384"/>
          <a:ext cx="7776864" cy="5394960"/>
        </p:xfrm>
        <a:graphic>
          <a:graphicData uri="http://schemas.openxmlformats.org/drawingml/2006/table">
            <a:tbl>
              <a:tblPr firstRow="1" bandRow="1">
                <a:tableStyleId>{5940675A-B579-460E-94D1-54222C63F5DA}</a:tableStyleId>
              </a:tblPr>
              <a:tblGrid>
                <a:gridCol w="792089"/>
                <a:gridCol w="4536505"/>
                <a:gridCol w="2448270"/>
              </a:tblGrid>
              <a:tr h="44782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err="1" smtClean="0">
                          <a:latin typeface="Times New Roman" panose="02020603050405020304" pitchFamily="18" charset="0"/>
                          <a:cs typeface="Times New Roman" panose="02020603050405020304" pitchFamily="18" charset="0"/>
                        </a:rPr>
                        <a:t>S.No</a:t>
                      </a:r>
                      <a:r>
                        <a:rPr lang="en-US" sz="1800" b="1" dirty="0" smtClean="0">
                          <a:latin typeface="Times New Roman" panose="02020603050405020304" pitchFamily="18" charset="0"/>
                          <a:cs typeface="Times New Roman" panose="02020603050405020304" pitchFamily="18" charset="0"/>
                        </a:rPr>
                        <a:t>:</a:t>
                      </a:r>
                      <a:endParaRPr lang="en-IN" sz="1800" b="1" dirty="0" smtClean="0">
                        <a:latin typeface="Times New Roman" panose="02020603050405020304" pitchFamily="18" charset="0"/>
                        <a:cs typeface="Times New Roman" panose="02020603050405020304" pitchFamily="18" charset="0"/>
                      </a:endParaRPr>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latin typeface="Times New Roman" panose="02020603050405020304" pitchFamily="18" charset="0"/>
                          <a:cs typeface="Times New Roman" panose="02020603050405020304" pitchFamily="18" charset="0"/>
                        </a:rPr>
                        <a:t>EXISTING SYSTEM</a:t>
                      </a:r>
                      <a:endParaRPr lang="en-IN" sz="1800" b="1" dirty="0" smtClean="0">
                        <a:latin typeface="Times New Roman" panose="02020603050405020304" pitchFamily="18" charset="0"/>
                        <a:cs typeface="Times New Roman" panose="02020603050405020304" pitchFamily="18" charset="0"/>
                      </a:endParaRPr>
                    </a:p>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latin typeface="Times New Roman" panose="02020603050405020304" pitchFamily="18" charset="0"/>
                          <a:cs typeface="Times New Roman" panose="02020603050405020304" pitchFamily="18" charset="0"/>
                        </a:rPr>
                        <a:t>DRAWBACKS</a:t>
                      </a:r>
                      <a:endParaRPr lang="en-IN" sz="1800" b="1" dirty="0" smtClean="0">
                        <a:latin typeface="Times New Roman" panose="02020603050405020304" pitchFamily="18" charset="0"/>
                        <a:cs typeface="Times New Roman" panose="02020603050405020304" pitchFamily="18" charset="0"/>
                      </a:endParaRPr>
                    </a:p>
                    <a:p>
                      <a:endParaRPr lang="en-IN" dirty="0"/>
                    </a:p>
                  </a:txBody>
                  <a:tcPr/>
                </a:tc>
              </a:tr>
              <a:tr h="4688512">
                <a:tc>
                  <a:txBody>
                    <a:bodyPr/>
                    <a:lstStyle/>
                    <a:p>
                      <a:r>
                        <a:rPr lang="en-US" dirty="0" smtClean="0"/>
                        <a:t>01.</a:t>
                      </a:r>
                      <a:endParaRPr lang="en-IN" dirty="0"/>
                    </a:p>
                  </a:txBody>
                  <a:tcPr/>
                </a:tc>
                <a:tc>
                  <a:txBody>
                    <a:bodyPr/>
                    <a:lstStyle/>
                    <a:p>
                      <a:r>
                        <a:rPr lang="en-US" b="1" dirty="0" smtClean="0">
                          <a:latin typeface="Times New Roman" panose="02020603050405020304" pitchFamily="18" charset="0"/>
                          <a:cs typeface="Times New Roman" panose="02020603050405020304" pitchFamily="18" charset="0"/>
                        </a:rPr>
                        <a:t>Multimodal data fusion of adult and pediatric brain tumors with deep learning</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This paper investigates the use of multi-model deep learning to enhance survival predictions for pediatric brain tumor patients by integrating imaging data (Whole slide images) and genomic data (gene expression). It highlights the shortcomings of traditional single-source data approaches in accurately forecasting patient outcomes. The study also emphasizes the need for interpretability in predictive models, proposing pathway analysis as a method to understand the underlying biological mechanism, and suggests the future research should be explore incorporation more diverse data types to improve prediction accuracy.</a:t>
                      </a: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800" b="1" i="0" kern="1200" dirty="0" smtClean="0">
                          <a:solidFill>
                            <a:schemeClr val="tx1"/>
                          </a:solidFill>
                          <a:effectLst/>
                          <a:latin typeface="Times New Roman" panose="02020603050405020304" pitchFamily="18" charset="0"/>
                          <a:ea typeface="+mn-ea"/>
                          <a:cs typeface="Times New Roman" panose="02020603050405020304" pitchFamily="18" charset="0"/>
                        </a:rPr>
                        <a:t>Complexity of the Model</a:t>
                      </a:r>
                      <a:r>
                        <a:rPr lang="en-US" sz="1800" b="0" i="0" kern="1200" dirty="0" smtClean="0">
                          <a:solidFill>
                            <a:schemeClr val="tx1"/>
                          </a:solidFill>
                          <a:effectLst/>
                          <a:latin typeface="Times New Roman" panose="02020603050405020304" pitchFamily="18" charset="0"/>
                          <a:ea typeface="+mn-ea"/>
                          <a:cs typeface="Times New Roman" panose="02020603050405020304" pitchFamily="18" charset="0"/>
                        </a:rPr>
                        <a:t>: may result in challenges related to model interpretability and increased computational demands.</a:t>
                      </a:r>
                    </a:p>
                    <a:p>
                      <a:r>
                        <a:rPr lang="en-US" sz="1800" b="1" i="0" kern="1200" dirty="0" smtClean="0">
                          <a:solidFill>
                            <a:schemeClr val="tx1"/>
                          </a:solidFill>
                          <a:effectLst/>
                          <a:latin typeface="Times New Roman" panose="02020603050405020304" pitchFamily="18" charset="0"/>
                          <a:ea typeface="+mn-ea"/>
                          <a:cs typeface="Times New Roman" panose="02020603050405020304" pitchFamily="18" charset="0"/>
                        </a:rPr>
                        <a:t>Limited Data Types</a:t>
                      </a:r>
                      <a:r>
                        <a:rPr lang="en-US" sz="1800" b="0" i="0" kern="1200" dirty="0" smtClean="0">
                          <a:solidFill>
                            <a:schemeClr val="tx1"/>
                          </a:solidFill>
                          <a:effectLst/>
                          <a:latin typeface="Times New Roman" panose="02020603050405020304" pitchFamily="18" charset="0"/>
                          <a:ea typeface="+mn-ea"/>
                          <a:cs typeface="Times New Roman" panose="02020603050405020304" pitchFamily="18" charset="0"/>
                        </a:rPr>
                        <a:t>: it acknowledges that incorporating additional data indicating that the current model may not fully capture all relevant biological information.</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22401929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299100632"/>
              </p:ext>
            </p:extLst>
          </p:nvPr>
        </p:nvGraphicFramePr>
        <p:xfrm>
          <a:off x="899592" y="260648"/>
          <a:ext cx="7488832" cy="6126480"/>
        </p:xfrm>
        <a:graphic>
          <a:graphicData uri="http://schemas.openxmlformats.org/drawingml/2006/table">
            <a:tbl>
              <a:tblPr firstRow="1" bandRow="1">
                <a:tableStyleId>{5940675A-B579-460E-94D1-54222C63F5DA}</a:tableStyleId>
              </a:tblPr>
              <a:tblGrid>
                <a:gridCol w="720080"/>
                <a:gridCol w="4608512"/>
                <a:gridCol w="2160240"/>
              </a:tblGrid>
              <a:tr h="5760641">
                <a:tc>
                  <a:txBody>
                    <a:bodyPr/>
                    <a:lstStyle/>
                    <a:p>
                      <a:r>
                        <a:rPr lang="en-US" dirty="0" smtClean="0"/>
                        <a:t>02.</a:t>
                      </a:r>
                      <a:endParaRPr lang="en-IN" dirty="0"/>
                    </a:p>
                  </a:txBody>
                  <a:tcPr/>
                </a:tc>
                <a:tc>
                  <a:txBody>
                    <a:bodyPr/>
                    <a:lstStyle/>
                    <a:p>
                      <a:r>
                        <a:rPr lang="en-US" b="1" dirty="0" smtClean="0">
                          <a:latin typeface="Times New Roman" panose="02020603050405020304" pitchFamily="18" charset="0"/>
                          <a:cs typeface="Times New Roman" panose="02020603050405020304" pitchFamily="18" charset="0"/>
                        </a:rPr>
                        <a:t>A Deep Learning-Based Framework for Automatic Brain Tumors Classification Using Transfer Learning </a:t>
                      </a:r>
                    </a:p>
                    <a:p>
                      <a:r>
                        <a:rPr lang="en-US" sz="1800" b="1" kern="1200" dirty="0" smtClean="0">
                          <a:solidFill>
                            <a:schemeClr val="tx1"/>
                          </a:solidFill>
                          <a:effectLst/>
                          <a:latin typeface="Times New Roman" panose="02020603050405020304" pitchFamily="18" charset="0"/>
                          <a:ea typeface="+mn-ea"/>
                          <a:cs typeface="Times New Roman" panose="02020603050405020304" pitchFamily="18" charset="0"/>
                        </a:rPr>
                        <a:t> </a:t>
                      </a: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The paper explains a brain tumor classification and detection system using deep learning techniques, specifically convolutional neural networks (CNNs). It details the methodology, including the CNNs employed, and the experimental design and results. Additionally, it discusses related work, the effectiveness of transfer learning, and the performance evaluation of the proposed system compared to existing methods.</a:t>
                      </a:r>
                      <a:endParaRPr lang="en-IN" sz="1800" kern="1200" dirty="0" smtClean="0">
                        <a:solidFill>
                          <a:schemeClr val="tx1"/>
                        </a:solidFill>
                        <a:effectLst/>
                        <a:latin typeface="Times New Roman" panose="02020603050405020304" pitchFamily="18" charset="0"/>
                        <a:ea typeface="+mn-ea"/>
                        <a:cs typeface="Times New Roman" panose="02020603050405020304" pitchFamily="18" charset="0"/>
                      </a:endParaRPr>
                    </a:p>
                    <a:p>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The brain tumor classification system that utilizes T1-weighted contrast-enhanced MRI images from 233 patients with various brain tumors. The system employs three </a:t>
                      </a:r>
                      <a:r>
                        <a:rPr lang="en-US" sz="1800" kern="1200" dirty="0" err="1" smtClean="0">
                          <a:solidFill>
                            <a:schemeClr val="tx1"/>
                          </a:solidFill>
                          <a:effectLst/>
                          <a:latin typeface="Times New Roman" panose="02020603050405020304" pitchFamily="18" charset="0"/>
                          <a:ea typeface="+mn-ea"/>
                          <a:cs typeface="Times New Roman" panose="02020603050405020304" pitchFamily="18" charset="0"/>
                        </a:rPr>
                        <a:t>pretrained</a:t>
                      </a:r>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 CNN architectures </a:t>
                      </a:r>
                      <a:r>
                        <a:rPr lang="en-US" sz="1800" kern="1200" dirty="0" err="1" smtClean="0">
                          <a:solidFill>
                            <a:schemeClr val="tx1"/>
                          </a:solidFill>
                          <a:effectLst/>
                          <a:latin typeface="Times New Roman" panose="02020603050405020304" pitchFamily="18" charset="0"/>
                          <a:ea typeface="+mn-ea"/>
                          <a:cs typeface="Times New Roman" panose="02020603050405020304" pitchFamily="18" charset="0"/>
                        </a:rPr>
                        <a:t>AlexNet</a:t>
                      </a:r>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 </a:t>
                      </a:r>
                      <a:r>
                        <a:rPr lang="en-US" sz="1800" kern="1200" dirty="0" err="1" smtClean="0">
                          <a:solidFill>
                            <a:schemeClr val="tx1"/>
                          </a:solidFill>
                          <a:effectLst/>
                          <a:latin typeface="Times New Roman" panose="02020603050405020304" pitchFamily="18" charset="0"/>
                          <a:ea typeface="+mn-ea"/>
                          <a:cs typeface="Times New Roman" panose="02020603050405020304" pitchFamily="18" charset="0"/>
                        </a:rPr>
                        <a:t>GoogleNet</a:t>
                      </a:r>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 and </a:t>
                      </a:r>
                      <a:r>
                        <a:rPr lang="en-US" sz="1800" kern="1200" dirty="0" err="1" smtClean="0">
                          <a:solidFill>
                            <a:schemeClr val="tx1"/>
                          </a:solidFill>
                          <a:effectLst/>
                          <a:latin typeface="Times New Roman" panose="02020603050405020304" pitchFamily="18" charset="0"/>
                          <a:ea typeface="+mn-ea"/>
                          <a:cs typeface="Times New Roman" panose="02020603050405020304" pitchFamily="18" charset="0"/>
                        </a:rPr>
                        <a:t>VGGNet</a:t>
                      </a:r>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a:t>
                      </a:r>
                      <a:endParaRPr lang="en-IN" b="1" dirty="0">
                        <a:latin typeface="Times New Roman" panose="02020603050405020304" pitchFamily="18" charset="0"/>
                        <a:cs typeface="Times New Roman" panose="02020603050405020304" pitchFamily="18" charset="0"/>
                      </a:endParaRPr>
                    </a:p>
                  </a:txBody>
                  <a:tcPr/>
                </a:tc>
                <a:tc>
                  <a:txBody>
                    <a:bodyPr/>
                    <a:lstStyle/>
                    <a:p>
                      <a:r>
                        <a:rPr lang="en-US" sz="1800" b="0" i="0" kern="1200" dirty="0" smtClean="0">
                          <a:solidFill>
                            <a:schemeClr val="tx1"/>
                          </a:solidFill>
                          <a:effectLst/>
                          <a:latin typeface="Times New Roman" panose="02020603050405020304" pitchFamily="18" charset="0"/>
                          <a:ea typeface="+mn-ea"/>
                          <a:cs typeface="Times New Roman" panose="02020603050405020304" pitchFamily="18" charset="0"/>
                        </a:rPr>
                        <a:t>The paper highlights that existing automated tumor detection systems do not provide satisfactory outputs, indicating a need for more robust computer-aided diagnosis systems. Additionally,  manual feature extraction, which can degrade accuracy and efficiency. The challenges in tumor classification due to the heterogeneity and varying properties of tumors also pose significant difficulties.</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14617677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487172062"/>
              </p:ext>
            </p:extLst>
          </p:nvPr>
        </p:nvGraphicFramePr>
        <p:xfrm>
          <a:off x="899592" y="836712"/>
          <a:ext cx="7344817" cy="5303520"/>
        </p:xfrm>
        <a:graphic>
          <a:graphicData uri="http://schemas.openxmlformats.org/drawingml/2006/table">
            <a:tbl>
              <a:tblPr firstRow="1" bandRow="1">
                <a:tableStyleId>{5940675A-B579-460E-94D1-54222C63F5DA}</a:tableStyleId>
              </a:tblPr>
              <a:tblGrid>
                <a:gridCol w="864096"/>
                <a:gridCol w="3703961"/>
                <a:gridCol w="2776760"/>
              </a:tblGrid>
              <a:tr h="370840">
                <a:tc>
                  <a:txBody>
                    <a:bodyPr/>
                    <a:lstStyle/>
                    <a:p>
                      <a:r>
                        <a:rPr lang="en-US" dirty="0" smtClean="0">
                          <a:latin typeface="Times New Roman" panose="02020603050405020304" pitchFamily="18" charset="0"/>
                          <a:cs typeface="Times New Roman" panose="02020603050405020304" pitchFamily="18" charset="0"/>
                        </a:rPr>
                        <a:t>03.</a:t>
                      </a:r>
                      <a:endParaRPr lang="en-IN" dirty="0">
                        <a:latin typeface="Times New Roman" panose="02020603050405020304" pitchFamily="18" charset="0"/>
                        <a:cs typeface="Times New Roman" panose="02020603050405020304" pitchFamily="18" charset="0"/>
                      </a:endParaRPr>
                    </a:p>
                  </a:txBody>
                  <a:tcPr/>
                </a:tc>
                <a:tc>
                  <a:txBody>
                    <a:bodyPr/>
                    <a:lstStyle/>
                    <a:p>
                      <a:r>
                        <a:rPr lang="en-US" b="1" dirty="0" smtClean="0">
                          <a:latin typeface="Times New Roman" panose="02020603050405020304" pitchFamily="18" charset="0"/>
                          <a:cs typeface="Times New Roman" panose="02020603050405020304" pitchFamily="18" charset="0"/>
                        </a:rPr>
                        <a:t>A Deep Learning Model Based on Concatenation Approach for the Diagnosis of Brain Tumor</a:t>
                      </a:r>
                    </a:p>
                    <a:p>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This abstract discusses the challenges of classifying brain tumor using MRI, highlighting the distinction between normal and abnormal tumors, as well as the complexities of categorizing different tumor types. It emphasizes the limitation of conventional feature extraction methods and the advantages of  deep learning models, particularly CNNs, in automatically extracting relevant features for improved classification. Additionally, it notes the importance of computer-aided diagnosis (CAD) system in assisting neurologists with tumor grading, classification, and detection</a:t>
                      </a:r>
                      <a:endParaRPr lang="en-IN" b="1" dirty="0">
                        <a:latin typeface="Times New Roman" panose="02020603050405020304" pitchFamily="18" charset="0"/>
                        <a:cs typeface="Times New Roman" panose="02020603050405020304" pitchFamily="18" charset="0"/>
                      </a:endParaRPr>
                    </a:p>
                  </a:txBody>
                  <a:tcPr/>
                </a:tc>
                <a:tc>
                  <a:txBody>
                    <a:bodyPr/>
                    <a:lstStyle/>
                    <a:p>
                      <a:r>
                        <a:rPr lang="en-US" sz="1800" b="0" i="0" kern="1200" dirty="0" smtClean="0">
                          <a:solidFill>
                            <a:schemeClr val="tx1"/>
                          </a:solidFill>
                          <a:effectLst/>
                          <a:latin typeface="Times New Roman" panose="02020603050405020304" pitchFamily="18" charset="0"/>
                          <a:ea typeface="+mn-ea"/>
                          <a:cs typeface="Times New Roman" panose="02020603050405020304" pitchFamily="18" charset="0"/>
                        </a:rPr>
                        <a:t>Additionally, these models can be prone to </a:t>
                      </a:r>
                      <a:r>
                        <a:rPr lang="en-US" sz="1800" b="0" i="0" kern="1200" dirty="0" err="1" smtClean="0">
                          <a:solidFill>
                            <a:schemeClr val="tx1"/>
                          </a:solidFill>
                          <a:effectLst/>
                          <a:latin typeface="Times New Roman" panose="02020603050405020304" pitchFamily="18" charset="0"/>
                          <a:ea typeface="+mn-ea"/>
                          <a:cs typeface="Times New Roman" panose="02020603050405020304" pitchFamily="18" charset="0"/>
                        </a:rPr>
                        <a:t>overfitting</a:t>
                      </a:r>
                      <a:r>
                        <a:rPr lang="en-US" sz="1800" b="0" i="0" kern="1200" dirty="0" smtClean="0">
                          <a:solidFill>
                            <a:schemeClr val="tx1"/>
                          </a:solidFill>
                          <a:effectLst/>
                          <a:latin typeface="Times New Roman" panose="02020603050405020304" pitchFamily="18" charset="0"/>
                          <a:ea typeface="+mn-ea"/>
                          <a:cs typeface="Times New Roman" panose="02020603050405020304" pitchFamily="18" charset="0"/>
                        </a:rPr>
                        <a:t>, especially when trained on small datasets, leading to poor generalization on unseen data. deep learning and machine learning in brain tumor classification include the need for large labeled datasets, which can be difficult and time-consuming to obtain.</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23016691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071868138"/>
              </p:ext>
            </p:extLst>
          </p:nvPr>
        </p:nvGraphicFramePr>
        <p:xfrm>
          <a:off x="899592" y="620688"/>
          <a:ext cx="7560840" cy="5688632"/>
        </p:xfrm>
        <a:graphic>
          <a:graphicData uri="http://schemas.openxmlformats.org/drawingml/2006/table">
            <a:tbl>
              <a:tblPr firstRow="1" bandRow="1">
                <a:tableStyleId>{5940675A-B579-460E-94D1-54222C63F5DA}</a:tableStyleId>
              </a:tblPr>
              <a:tblGrid>
                <a:gridCol w="642566"/>
                <a:gridCol w="3711721"/>
                <a:gridCol w="3206553"/>
              </a:tblGrid>
              <a:tr h="5688632">
                <a:tc>
                  <a:txBody>
                    <a:bodyPr/>
                    <a:lstStyle/>
                    <a:p>
                      <a:r>
                        <a:rPr lang="en-US" dirty="0" smtClean="0">
                          <a:latin typeface="Times New Roman" panose="02020603050405020304" pitchFamily="18" charset="0"/>
                          <a:cs typeface="Times New Roman" panose="02020603050405020304" pitchFamily="18" charset="0"/>
                        </a:rPr>
                        <a:t>04.</a:t>
                      </a:r>
                      <a:endParaRPr lang="en-IN" dirty="0">
                        <a:latin typeface="Times New Roman" panose="02020603050405020304" pitchFamily="18" charset="0"/>
                        <a:cs typeface="Times New Roman" panose="02020603050405020304" pitchFamily="18" charset="0"/>
                      </a:endParaRPr>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800" b="1" kern="1200" dirty="0" smtClean="0">
                          <a:solidFill>
                            <a:schemeClr val="tx1"/>
                          </a:solidFill>
                          <a:effectLst/>
                          <a:latin typeface="Times New Roman" panose="02020603050405020304" pitchFamily="18" charset="0"/>
                          <a:ea typeface="+mn-ea"/>
                          <a:cs typeface="Times New Roman" panose="02020603050405020304" pitchFamily="18" charset="0"/>
                        </a:rPr>
                        <a:t>Detection of tumors on brain MRI images using the hybrid convolutional neural network architecture</a:t>
                      </a:r>
                      <a:endParaRPr lang="en-IN" sz="1800" b="1" kern="1200" dirty="0" smtClean="0">
                        <a:solidFill>
                          <a:schemeClr val="tx1"/>
                        </a:solidFill>
                        <a:effectLst/>
                        <a:latin typeface="Times New Roman" panose="02020603050405020304" pitchFamily="18" charset="0"/>
                        <a:ea typeface="+mn-ea"/>
                        <a:cs typeface="Times New Roman" panose="02020603050405020304" pitchFamily="18" charset="0"/>
                      </a:endParaRPr>
                    </a:p>
                    <a:p>
                      <a:r>
                        <a:rPr lang="en-US" sz="1800" kern="1200" dirty="0" smtClean="0">
                          <a:solidFill>
                            <a:schemeClr val="tx1"/>
                          </a:solidFill>
                          <a:effectLst/>
                          <a:latin typeface="Times New Roman" panose="02020603050405020304" pitchFamily="18" charset="0"/>
                          <a:ea typeface="+mn-ea"/>
                          <a:cs typeface="Times New Roman" panose="02020603050405020304" pitchFamily="18" charset="0"/>
                        </a:rPr>
                        <a:t>In this paper, the author discusses the significance of early detection of brain tumors, which are abnormal tissue growths in the brain. It highlights the use of MRI images deep learning methods for classifying these tumors, emphasizing the importance of training networks with large databases to improve diagnostic accuracy rate 86.56% using a convolutional layer and primary capsules for image classification.</a:t>
                      </a:r>
                      <a:endParaRPr lang="en-IN" dirty="0">
                        <a:latin typeface="Times New Roman" panose="02020603050405020304" pitchFamily="18" charset="0"/>
                        <a:cs typeface="Times New Roman" panose="02020603050405020304" pitchFamily="18" charset="0"/>
                      </a:endParaRPr>
                    </a:p>
                  </a:txBody>
                  <a:tcPr/>
                </a:tc>
                <a:tc>
                  <a:txBody>
                    <a:bodyPr/>
                    <a:lstStyle/>
                    <a:p>
                      <a:r>
                        <a:rPr lang="en-US" sz="1800" b="0" i="0" kern="1200" dirty="0" smtClean="0">
                          <a:solidFill>
                            <a:schemeClr val="tx1"/>
                          </a:solidFill>
                          <a:effectLst/>
                          <a:latin typeface="Times New Roman" panose="02020603050405020304" pitchFamily="18" charset="0"/>
                          <a:ea typeface="+mn-ea"/>
                          <a:cs typeface="Times New Roman" panose="02020603050405020304" pitchFamily="18" charset="0"/>
                        </a:rPr>
                        <a:t>This can lead to reduced accuracy in real-world applications. Additionally, the reliance on large annotated datasets for training can be a limitation, as acquiring such data can be time-consuming and resource-intensive.</a:t>
                      </a:r>
                      <a:endParaRPr lang="en-IN" dirty="0">
                        <a:latin typeface="Times New Roman" panose="02020603050405020304" pitchFamily="18" charset="0"/>
                        <a:cs typeface="Times New Roman" panose="02020603050405020304" pitchFamily="18" charset="0"/>
                      </a:endParaRPr>
                    </a:p>
                  </a:txBody>
                  <a:tcPr/>
                </a:tc>
              </a:tr>
            </a:tbl>
          </a:graphicData>
        </a:graphic>
      </p:graphicFrame>
    </p:spTree>
    <p:extLst>
      <p:ext uri="{BB962C8B-B14F-4D97-AF65-F5344CB8AC3E}">
        <p14:creationId xmlns:p14="http://schemas.microsoft.com/office/powerpoint/2010/main" val="24152376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marL="0" indent="0">
              <a:buNone/>
            </a:pPr>
            <a:r>
              <a:rPr lang="en-US" sz="2000" dirty="0">
                <a:latin typeface="Times New Roman" panose="02020603050405020304" pitchFamily="18" charset="0"/>
                <a:cs typeface="Times New Roman" panose="02020603050405020304" pitchFamily="18" charset="0"/>
              </a:rPr>
              <a:t>This system involves outlining the components, functionalities, and architecture of a system that is planned for implementation. Let's sketch a high-level design for a deep learning-based brain tumor detection system using models like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Inception </a:t>
            </a:r>
            <a:r>
              <a:rPr lang="en-US" sz="2000" dirty="0">
                <a:latin typeface="Times New Roman" panose="02020603050405020304" pitchFamily="18" charset="0"/>
                <a:cs typeface="Times New Roman" panose="02020603050405020304" pitchFamily="18" charset="0"/>
              </a:rPr>
              <a:t>v3,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VGG-16</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ResNet-50,</a:t>
            </a:r>
          </a:p>
          <a:p>
            <a:r>
              <a:rPr lang="en-US" sz="2000" dirty="0" smtClean="0">
                <a:latin typeface="Times New Roman" panose="02020603050405020304" pitchFamily="18" charset="0"/>
                <a:cs typeface="Times New Roman" panose="02020603050405020304" pitchFamily="18" charset="0"/>
              </a:rPr>
              <a:t>Deep </a:t>
            </a:r>
            <a:r>
              <a:rPr lang="en-US" sz="2000" dirty="0">
                <a:latin typeface="Times New Roman" panose="02020603050405020304" pitchFamily="18" charset="0"/>
                <a:cs typeface="Times New Roman" panose="02020603050405020304" pitchFamily="18" charset="0"/>
              </a:rPr>
              <a:t>Belief Networks (DBNs</a:t>
            </a:r>
            <a:r>
              <a:rPr lang="en-US"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0" indent="0">
              <a:buNone/>
            </a:pPr>
            <a:endParaRPr lang="en-US" sz="2200" dirty="0" smtClean="0">
              <a:latin typeface="Times New Roman" panose="02020603050405020304" pitchFamily="18" charset="0"/>
              <a:cs typeface="Times New Roman" panose="02020603050405020304" pitchFamily="18" charset="0"/>
            </a:endParaRPr>
          </a:p>
          <a:p>
            <a:pPr marL="0" indent="0">
              <a:buNone/>
            </a:pPr>
            <a:r>
              <a:rPr lang="en-IN" sz="2100" b="1" dirty="0">
                <a:latin typeface="Times New Roman" panose="02020603050405020304" pitchFamily="18" charset="0"/>
                <a:cs typeface="Times New Roman" panose="02020603050405020304" pitchFamily="18" charset="0"/>
              </a:rPr>
              <a:t>Collect MRI Images</a:t>
            </a:r>
            <a:r>
              <a:rPr lang="en-IN" sz="2100" dirty="0">
                <a:latin typeface="Times New Roman" panose="02020603050405020304" pitchFamily="18" charset="0"/>
                <a:cs typeface="Times New Roman" panose="02020603050405020304" pitchFamily="18" charset="0"/>
              </a:rPr>
              <a:t>: Gather a dataset of brain MRI images with </a:t>
            </a:r>
            <a:r>
              <a:rPr lang="en-IN" sz="2100" dirty="0" err="1">
                <a:latin typeface="Times New Roman" panose="02020603050405020304" pitchFamily="18" charset="0"/>
                <a:cs typeface="Times New Roman" panose="02020603050405020304" pitchFamily="18" charset="0"/>
              </a:rPr>
              <a:t>labeled</a:t>
            </a:r>
            <a:r>
              <a:rPr lang="en-IN" sz="2100" dirty="0">
                <a:latin typeface="Times New Roman" panose="02020603050405020304" pitchFamily="18" charset="0"/>
                <a:cs typeface="Times New Roman" panose="02020603050405020304" pitchFamily="18" charset="0"/>
              </a:rPr>
              <a:t> </a:t>
            </a:r>
            <a:r>
              <a:rPr lang="en-IN" sz="2100" dirty="0" err="1">
                <a:latin typeface="Times New Roman" panose="02020603050405020304" pitchFamily="18" charset="0"/>
                <a:cs typeface="Times New Roman" panose="02020603050405020304" pitchFamily="18" charset="0"/>
              </a:rPr>
              <a:t>tumor</a:t>
            </a:r>
            <a:r>
              <a:rPr lang="en-IN" sz="2100" dirty="0">
                <a:latin typeface="Times New Roman" panose="02020603050405020304" pitchFamily="18" charset="0"/>
                <a:cs typeface="Times New Roman" panose="02020603050405020304" pitchFamily="18" charset="0"/>
              </a:rPr>
              <a:t> types (e.g., </a:t>
            </a:r>
            <a:r>
              <a:rPr lang="en-IN" sz="2100" dirty="0" err="1">
                <a:latin typeface="Times New Roman" panose="02020603050405020304" pitchFamily="18" charset="0"/>
                <a:cs typeface="Times New Roman" panose="02020603050405020304" pitchFamily="18" charset="0"/>
              </a:rPr>
              <a:t>gliomas</a:t>
            </a:r>
            <a:r>
              <a:rPr lang="en-IN" sz="2100" dirty="0">
                <a:latin typeface="Times New Roman" panose="02020603050405020304" pitchFamily="18" charset="0"/>
                <a:cs typeface="Times New Roman" panose="02020603050405020304" pitchFamily="18" charset="0"/>
              </a:rPr>
              <a:t>, </a:t>
            </a:r>
            <a:r>
              <a:rPr lang="en-IN" sz="2100" dirty="0" err="1">
                <a:latin typeface="Times New Roman" panose="02020603050405020304" pitchFamily="18" charset="0"/>
                <a:cs typeface="Times New Roman" panose="02020603050405020304" pitchFamily="18" charset="0"/>
              </a:rPr>
              <a:t>meningiomas</a:t>
            </a:r>
            <a:r>
              <a:rPr lang="en-IN" sz="2100" dirty="0">
                <a:latin typeface="Times New Roman" panose="02020603050405020304" pitchFamily="18" charset="0"/>
                <a:cs typeface="Times New Roman" panose="02020603050405020304" pitchFamily="18" charset="0"/>
              </a:rPr>
              <a:t>, pituitary </a:t>
            </a:r>
            <a:r>
              <a:rPr lang="en-IN" sz="2100" dirty="0" err="1">
                <a:latin typeface="Times New Roman" panose="02020603050405020304" pitchFamily="18" charset="0"/>
                <a:cs typeface="Times New Roman" panose="02020603050405020304" pitchFamily="18" charset="0"/>
              </a:rPr>
              <a:t>tumors</a:t>
            </a:r>
            <a:r>
              <a:rPr lang="en-IN" sz="2100" dirty="0">
                <a:latin typeface="Times New Roman" panose="02020603050405020304" pitchFamily="18" charset="0"/>
                <a:cs typeface="Times New Roman" panose="02020603050405020304" pitchFamily="18" charset="0"/>
              </a:rPr>
              <a:t>).</a:t>
            </a:r>
          </a:p>
          <a:p>
            <a:pPr marL="0" indent="0">
              <a:buNone/>
            </a:pPr>
            <a:r>
              <a:rPr lang="en-IN" sz="2100" b="1" dirty="0" err="1">
                <a:latin typeface="Times New Roman" panose="02020603050405020304" pitchFamily="18" charset="0"/>
                <a:cs typeface="Times New Roman" panose="02020603050405020304" pitchFamily="18" charset="0"/>
              </a:rPr>
              <a:t>Preprocess</a:t>
            </a:r>
            <a:r>
              <a:rPr lang="en-IN" sz="2100" b="1" dirty="0">
                <a:latin typeface="Times New Roman" panose="02020603050405020304" pitchFamily="18" charset="0"/>
                <a:cs typeface="Times New Roman" panose="02020603050405020304" pitchFamily="18" charset="0"/>
              </a:rPr>
              <a:t> Images</a:t>
            </a:r>
            <a:r>
              <a:rPr lang="en-IN" sz="2100" dirty="0">
                <a:latin typeface="Times New Roman" panose="02020603050405020304" pitchFamily="18" charset="0"/>
                <a:cs typeface="Times New Roman" panose="02020603050405020304" pitchFamily="18" charset="0"/>
              </a:rPr>
              <a:t>: Resize images to the required input size (224x224 for VGG-16 and ResNet-50, 299x299 for Inception v3). Normalize pixel values and apply data augmentation techniques like rotation, flipping, and scaling to increase dataset diversity.</a:t>
            </a:r>
          </a:p>
          <a:p>
            <a:pPr marL="0" indent="0">
              <a:buNone/>
            </a:pPr>
            <a:endParaRPr lang="en-IN" dirty="0"/>
          </a:p>
        </p:txBody>
      </p:sp>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Proposed System</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17739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3688" y="116632"/>
            <a:ext cx="5616624" cy="973137"/>
          </a:xfrm>
        </p:spPr>
        <p:txBody>
          <a:bodyPr>
            <a:normAutofit/>
          </a:bodyPr>
          <a:lstStyle/>
          <a:p>
            <a:r>
              <a:rPr lang="en-US" sz="3200" b="1" dirty="0" smtClean="0">
                <a:latin typeface="Times New Roman" panose="02020603050405020304" pitchFamily="18" charset="0"/>
                <a:cs typeface="Times New Roman" panose="02020603050405020304" pitchFamily="18" charset="0"/>
              </a:rPr>
              <a:t>System Architecture</a:t>
            </a:r>
            <a:endParaRPr lang="en-IN" sz="3200" b="1" dirty="0">
              <a:latin typeface="Times New Roman" panose="02020603050405020304" pitchFamily="18" charset="0"/>
              <a:cs typeface="Times New Roman" panose="02020603050405020304" pitchFamily="18" charset="0"/>
            </a:endParaRPr>
          </a:p>
        </p:txBody>
      </p:sp>
      <p:sp>
        <p:nvSpPr>
          <p:cNvPr id="4" name="Rectangle 15"/>
          <p:cNvSpPr>
            <a:spLocks noChangeArrowheads="1"/>
          </p:cNvSpPr>
          <p:nvPr/>
        </p:nvSpPr>
        <p:spPr bwMode="auto">
          <a:xfrm>
            <a:off x="3371850" y="971550"/>
            <a:ext cx="2238375" cy="495300"/>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Data Processing</a:t>
            </a: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5" name="Rectangle 20"/>
          <p:cNvSpPr>
            <a:spLocks noChangeArrowheads="1"/>
          </p:cNvSpPr>
          <p:nvPr/>
        </p:nvSpPr>
        <p:spPr bwMode="auto">
          <a:xfrm>
            <a:off x="3381375" y="1700039"/>
            <a:ext cx="2228850" cy="504825"/>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Data Collection</a:t>
            </a: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6" name="Oval 21"/>
          <p:cNvSpPr>
            <a:spLocks noChangeArrowheads="1"/>
          </p:cNvSpPr>
          <p:nvPr/>
        </p:nvSpPr>
        <p:spPr bwMode="auto">
          <a:xfrm>
            <a:off x="1052512" y="921543"/>
            <a:ext cx="1552575" cy="733425"/>
          </a:xfrm>
          <a:prstGeom prst="ellipse">
            <a:avLst/>
          </a:prstGeom>
          <a:solidFill>
            <a:srgbClr val="FFFFFF"/>
          </a:solidFill>
          <a:ln w="25400">
            <a:solidFill>
              <a:srgbClr val="F79646"/>
            </a:solidFill>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Brain tumor images</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7" name="Rectangle 22"/>
          <p:cNvSpPr>
            <a:spLocks noChangeArrowheads="1"/>
          </p:cNvSpPr>
          <p:nvPr/>
        </p:nvSpPr>
        <p:spPr bwMode="auto">
          <a:xfrm>
            <a:off x="3419475" y="2436317"/>
            <a:ext cx="2190750" cy="533400"/>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Classification</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8" name="Rectangle 25"/>
          <p:cNvSpPr>
            <a:spLocks noChangeArrowheads="1"/>
          </p:cNvSpPr>
          <p:nvPr/>
        </p:nvSpPr>
        <p:spPr bwMode="auto">
          <a:xfrm>
            <a:off x="1419076" y="3356992"/>
            <a:ext cx="1133475" cy="495300"/>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VGG-16</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9" name="Rectangle 26"/>
          <p:cNvSpPr>
            <a:spLocks noChangeArrowheads="1"/>
          </p:cNvSpPr>
          <p:nvPr/>
        </p:nvSpPr>
        <p:spPr bwMode="auto">
          <a:xfrm>
            <a:off x="3961060" y="3356991"/>
            <a:ext cx="1190625" cy="495300"/>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Inception V3</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0" name="Rectangle 27"/>
          <p:cNvSpPr>
            <a:spLocks noChangeArrowheads="1"/>
          </p:cNvSpPr>
          <p:nvPr/>
        </p:nvSpPr>
        <p:spPr bwMode="auto">
          <a:xfrm>
            <a:off x="6381749" y="3356992"/>
            <a:ext cx="1200150" cy="495300"/>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ResNet-50</a:t>
            </a: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 name="Flowchart: Decision 28"/>
          <p:cNvSpPr>
            <a:spLocks noChangeArrowheads="1"/>
          </p:cNvSpPr>
          <p:nvPr/>
        </p:nvSpPr>
        <p:spPr bwMode="auto">
          <a:xfrm>
            <a:off x="4019153" y="5098504"/>
            <a:ext cx="1190624" cy="1066800"/>
          </a:xfrm>
          <a:prstGeom prst="flowChartDecision">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Result</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5" name="Rectangle 32"/>
          <p:cNvSpPr>
            <a:spLocks noChangeArrowheads="1"/>
          </p:cNvSpPr>
          <p:nvPr/>
        </p:nvSpPr>
        <p:spPr bwMode="auto">
          <a:xfrm>
            <a:off x="762000" y="5393779"/>
            <a:ext cx="1190625" cy="476250"/>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Tumor</a:t>
            </a: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 name="Rectangle 33"/>
          <p:cNvSpPr>
            <a:spLocks noChangeArrowheads="1"/>
          </p:cNvSpPr>
          <p:nvPr/>
        </p:nvSpPr>
        <p:spPr bwMode="auto">
          <a:xfrm>
            <a:off x="7523187" y="5393779"/>
            <a:ext cx="1162050" cy="476250"/>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Tumor</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7" name="Rounded Rectangle 34"/>
          <p:cNvSpPr>
            <a:spLocks noChangeArrowheads="1"/>
          </p:cNvSpPr>
          <p:nvPr/>
        </p:nvSpPr>
        <p:spPr bwMode="auto">
          <a:xfrm>
            <a:off x="3971925" y="6373811"/>
            <a:ext cx="1221283" cy="409576"/>
          </a:xfrm>
          <a:prstGeom prst="roundRect">
            <a:avLst>
              <a:gd name="adj" fmla="val 16667"/>
            </a:avLst>
          </a:prstGeom>
          <a:solidFill>
            <a:srgbClr val="FFFFFF"/>
          </a:solidFill>
          <a:ln w="25400">
            <a:solidFill>
              <a:srgbClr val="F79646"/>
            </a:solidFill>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End</a:t>
            </a: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8" name="Rectangle 35"/>
          <p:cNvSpPr>
            <a:spLocks noChangeArrowheads="1"/>
          </p:cNvSpPr>
          <p:nvPr/>
        </p:nvSpPr>
        <p:spPr bwMode="auto">
          <a:xfrm>
            <a:off x="2552551" y="5427116"/>
            <a:ext cx="638175" cy="409575"/>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100" dirty="0" smtClean="0">
                <a:latin typeface="Arial" pitchFamily="34" charset="0"/>
                <a:cs typeface="Arial" pitchFamily="34" charset="0"/>
              </a:rPr>
              <a:t>No</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44" name="Rectangle 58"/>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14245" tIns="3174" rIns="1660002"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cxnSp>
        <p:nvCxnSpPr>
          <p:cNvPr id="49" name="Straight Arrow Connector 48"/>
          <p:cNvCxnSpPr>
            <a:stCxn id="6" idx="6"/>
            <a:endCxn id="4" idx="1"/>
          </p:cNvCxnSpPr>
          <p:nvPr/>
        </p:nvCxnSpPr>
        <p:spPr>
          <a:xfrm flipV="1">
            <a:off x="2605087" y="1219200"/>
            <a:ext cx="766763" cy="69056"/>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8" name="Rectangle 26"/>
          <p:cNvSpPr>
            <a:spLocks noChangeArrowheads="1"/>
          </p:cNvSpPr>
          <p:nvPr/>
        </p:nvSpPr>
        <p:spPr bwMode="auto">
          <a:xfrm>
            <a:off x="3422923" y="4390987"/>
            <a:ext cx="2373213" cy="495300"/>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chemeClr val="tx1"/>
                </a:solidFill>
                <a:effectLst/>
                <a:latin typeface="Arial" pitchFamily="34" charset="0"/>
                <a:cs typeface="Arial" pitchFamily="34" charset="0"/>
              </a:rPr>
              <a:t>Deep Belief Network</a:t>
            </a:r>
          </a:p>
        </p:txBody>
      </p:sp>
      <p:cxnSp>
        <p:nvCxnSpPr>
          <p:cNvPr id="42" name="Elbow Connector 41"/>
          <p:cNvCxnSpPr>
            <a:stCxn id="8" idx="2"/>
            <a:endCxn id="58" idx="1"/>
          </p:cNvCxnSpPr>
          <p:nvPr/>
        </p:nvCxnSpPr>
        <p:spPr>
          <a:xfrm rot="16200000" flipH="1">
            <a:off x="2311196" y="3526909"/>
            <a:ext cx="786345" cy="1437109"/>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10" idx="2"/>
            <a:endCxn id="58" idx="3"/>
          </p:cNvCxnSpPr>
          <p:nvPr/>
        </p:nvCxnSpPr>
        <p:spPr>
          <a:xfrm rot="5400000">
            <a:off x="5995808" y="3652620"/>
            <a:ext cx="786345" cy="1185688"/>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9" idx="2"/>
            <a:endCxn id="58" idx="0"/>
          </p:cNvCxnSpPr>
          <p:nvPr/>
        </p:nvCxnSpPr>
        <p:spPr>
          <a:xfrm>
            <a:off x="4556373" y="3852291"/>
            <a:ext cx="53157" cy="53869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58" idx="2"/>
            <a:endCxn id="11" idx="0"/>
          </p:cNvCxnSpPr>
          <p:nvPr/>
        </p:nvCxnSpPr>
        <p:spPr>
          <a:xfrm>
            <a:off x="4609530" y="4886287"/>
            <a:ext cx="4935" cy="21221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8" name="Rectangle 35"/>
          <p:cNvSpPr>
            <a:spLocks noChangeArrowheads="1"/>
          </p:cNvSpPr>
          <p:nvPr/>
        </p:nvSpPr>
        <p:spPr bwMode="auto">
          <a:xfrm>
            <a:off x="6069892" y="5427116"/>
            <a:ext cx="638175" cy="409575"/>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altLang="en-US" sz="1100" dirty="0" smtClean="0">
                <a:latin typeface="Arial" pitchFamily="34" charset="0"/>
                <a:cs typeface="Arial" pitchFamily="34" charset="0"/>
              </a:rPr>
              <a:t>Yes</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cxnSp>
        <p:nvCxnSpPr>
          <p:cNvPr id="64" name="Straight Arrow Connector 63"/>
          <p:cNvCxnSpPr>
            <a:stCxn id="11" idx="3"/>
            <a:endCxn id="78" idx="1"/>
          </p:cNvCxnSpPr>
          <p:nvPr/>
        </p:nvCxnSpPr>
        <p:spPr>
          <a:xfrm>
            <a:off x="5209777" y="5631904"/>
            <a:ext cx="860115"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11" idx="1"/>
            <a:endCxn id="18" idx="3"/>
          </p:cNvCxnSpPr>
          <p:nvPr/>
        </p:nvCxnSpPr>
        <p:spPr>
          <a:xfrm flipH="1">
            <a:off x="3190726" y="5631904"/>
            <a:ext cx="828427"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4" name="Rectangle 35"/>
          <p:cNvSpPr>
            <a:spLocks noChangeArrowheads="1"/>
          </p:cNvSpPr>
          <p:nvPr/>
        </p:nvSpPr>
        <p:spPr bwMode="auto">
          <a:xfrm>
            <a:off x="6220791" y="6363739"/>
            <a:ext cx="1522066" cy="409575"/>
          </a:xfrm>
          <a:prstGeom prst="rect">
            <a:avLst/>
          </a:prstGeom>
          <a:solidFill>
            <a:srgbClr val="FFFFFF"/>
          </a:solidFill>
          <a:ln w="25400">
            <a:solidFill>
              <a:srgbClr val="F79646"/>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itchFamily="34" charset="0"/>
                <a:cs typeface="Arial" pitchFamily="34" charset="0"/>
              </a:rPr>
              <a:t>Accuracy in algorithm</a:t>
            </a:r>
          </a:p>
        </p:txBody>
      </p:sp>
      <p:cxnSp>
        <p:nvCxnSpPr>
          <p:cNvPr id="72" name="Straight Arrow Connector 71"/>
          <p:cNvCxnSpPr>
            <a:stCxn id="18" idx="1"/>
            <a:endCxn id="15" idx="3"/>
          </p:cNvCxnSpPr>
          <p:nvPr/>
        </p:nvCxnSpPr>
        <p:spPr>
          <a:xfrm flipH="1">
            <a:off x="1952625" y="5631904"/>
            <a:ext cx="59992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6" name="Elbow Connector 75"/>
          <p:cNvCxnSpPr>
            <a:stCxn id="15" idx="2"/>
            <a:endCxn id="17" idx="1"/>
          </p:cNvCxnSpPr>
          <p:nvPr/>
        </p:nvCxnSpPr>
        <p:spPr>
          <a:xfrm rot="16200000" flipH="1">
            <a:off x="2310334" y="4917008"/>
            <a:ext cx="708570" cy="261461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78" idx="3"/>
            <a:endCxn id="16" idx="1"/>
          </p:cNvCxnSpPr>
          <p:nvPr/>
        </p:nvCxnSpPr>
        <p:spPr>
          <a:xfrm>
            <a:off x="6708067" y="5631904"/>
            <a:ext cx="81512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4" name="Elbow Connector 93"/>
          <p:cNvCxnSpPr>
            <a:stCxn id="16" idx="2"/>
            <a:endCxn id="84" idx="3"/>
          </p:cNvCxnSpPr>
          <p:nvPr/>
        </p:nvCxnSpPr>
        <p:spPr>
          <a:xfrm rot="5400000">
            <a:off x="7574286" y="6038601"/>
            <a:ext cx="698498" cy="361355"/>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7" name="Elbow Connector 96"/>
          <p:cNvCxnSpPr>
            <a:stCxn id="84" idx="1"/>
            <a:endCxn id="17" idx="3"/>
          </p:cNvCxnSpPr>
          <p:nvPr/>
        </p:nvCxnSpPr>
        <p:spPr>
          <a:xfrm rot="10800000" flipV="1">
            <a:off x="5193209" y="6568527"/>
            <a:ext cx="1027583" cy="10072"/>
          </a:xfrm>
          <a:prstGeom prst="bentConnector3">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a:stCxn id="4" idx="2"/>
            <a:endCxn id="5" idx="0"/>
          </p:cNvCxnSpPr>
          <p:nvPr/>
        </p:nvCxnSpPr>
        <p:spPr>
          <a:xfrm>
            <a:off x="4491038" y="1466850"/>
            <a:ext cx="4762" cy="23318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a:stCxn id="5" idx="2"/>
            <a:endCxn id="7" idx="0"/>
          </p:cNvCxnSpPr>
          <p:nvPr/>
        </p:nvCxnSpPr>
        <p:spPr>
          <a:xfrm>
            <a:off x="4495800" y="2204864"/>
            <a:ext cx="19050" cy="2314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3" name="Elbow Connector 102"/>
          <p:cNvCxnSpPr>
            <a:stCxn id="8" idx="0"/>
            <a:endCxn id="10" idx="0"/>
          </p:cNvCxnSpPr>
          <p:nvPr/>
        </p:nvCxnSpPr>
        <p:spPr>
          <a:xfrm rot="5400000" flipH="1" flipV="1">
            <a:off x="4483819" y="858987"/>
            <a:ext cx="12700" cy="4996010"/>
          </a:xfrm>
          <a:prstGeom prst="bentConnector3">
            <a:avLst>
              <a:gd name="adj1" fmla="val 1800000"/>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a:stCxn id="7" idx="2"/>
            <a:endCxn id="9" idx="0"/>
          </p:cNvCxnSpPr>
          <p:nvPr/>
        </p:nvCxnSpPr>
        <p:spPr>
          <a:xfrm>
            <a:off x="4514850" y="2969717"/>
            <a:ext cx="41523" cy="38727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85896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34"/>
          <p:cNvSpPr>
            <a:spLocks noChangeArrowheads="1"/>
          </p:cNvSpPr>
          <p:nvPr/>
        </p:nvSpPr>
        <p:spPr bwMode="auto">
          <a:xfrm>
            <a:off x="2195829" y="3075086"/>
            <a:ext cx="1516063" cy="639763"/>
          </a:xfrm>
          <a:prstGeom prst="rect">
            <a:avLst/>
          </a:prstGeom>
          <a:solidFill>
            <a:srgbClr val="4F81BD"/>
          </a:solidFill>
          <a:ln w="25400">
            <a:solidFill>
              <a:srgbClr val="0A121C"/>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Preprocessing</a:t>
            </a: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1" name="Rectangle 35"/>
          <p:cNvSpPr>
            <a:spLocks noChangeArrowheads="1"/>
          </p:cNvSpPr>
          <p:nvPr/>
        </p:nvSpPr>
        <p:spPr bwMode="auto">
          <a:xfrm>
            <a:off x="2210118" y="4033837"/>
            <a:ext cx="1487487" cy="517525"/>
          </a:xfrm>
          <a:prstGeom prst="rect">
            <a:avLst/>
          </a:prstGeom>
          <a:solidFill>
            <a:srgbClr val="4F81BD"/>
          </a:solidFill>
          <a:ln w="25400">
            <a:solidFill>
              <a:srgbClr val="0A121C"/>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Training</a:t>
            </a: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cxnSp>
        <p:nvCxnSpPr>
          <p:cNvPr id="22" name="Straight Arrow Connector 21"/>
          <p:cNvCxnSpPr/>
          <p:nvPr/>
        </p:nvCxnSpPr>
        <p:spPr>
          <a:xfrm flipH="1">
            <a:off x="2941320" y="2776220"/>
            <a:ext cx="7620" cy="3352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941320" y="3721100"/>
            <a:ext cx="0" cy="274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3697605" y="4292600"/>
            <a:ext cx="638175" cy="22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Cube 46"/>
          <p:cNvSpPr>
            <a:spLocks noChangeArrowheads="1"/>
          </p:cNvSpPr>
          <p:nvPr/>
        </p:nvSpPr>
        <p:spPr bwMode="auto">
          <a:xfrm>
            <a:off x="4335780" y="3831273"/>
            <a:ext cx="1525588" cy="777875"/>
          </a:xfrm>
          <a:prstGeom prst="cube">
            <a:avLst>
              <a:gd name="adj" fmla="val 25000"/>
            </a:avLst>
          </a:prstGeom>
          <a:solidFill>
            <a:srgbClr val="4F81BD"/>
          </a:solidFill>
          <a:ln w="25400">
            <a:solidFill>
              <a:srgbClr val="0A121C"/>
            </a:solid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100" b="0" i="0" u="none" strike="noStrike" cap="none" normalizeH="0" baseline="0" smtClean="0">
                <a:ln>
                  <a:noFill/>
                </a:ln>
                <a:solidFill>
                  <a:schemeClr val="tx1"/>
                </a:solidFill>
                <a:effectLst/>
                <a:latin typeface="Arial" pitchFamily="34" charset="0"/>
                <a:ea typeface="Times New Roman" pitchFamily="18" charset="0"/>
                <a:cs typeface="Arial" pitchFamily="34" charset="0"/>
              </a:rPr>
              <a:t>Model</a:t>
            </a: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6" name="Rectangle 30"/>
          <p:cNvSpPr>
            <a:spLocks noChangeArrowheads="1"/>
          </p:cNvSpPr>
          <p:nvPr/>
        </p:nvSpPr>
        <p:spPr bwMode="auto">
          <a:xfrm>
            <a:off x="0" y="1124744"/>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80918" tIns="0" rIns="1660002"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5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Flow Diagram: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7" name="Rectangle 34"/>
          <p:cNvSpPr>
            <a:spLocks noChangeArrowheads="1"/>
          </p:cNvSpPr>
          <p:nvPr/>
        </p:nvSpPr>
        <p:spPr bwMode="auto">
          <a:xfrm>
            <a:off x="887431" y="5661248"/>
            <a:ext cx="3196252"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80918" tIns="0" rIns="1660002"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Training Phases</a:t>
            </a:r>
            <a:endParaRPr kumimoji="0" lang="en-US" altLang="en-US" sz="15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36" name="Rectangle: Rounded Corners 33"/>
          <p:cNvSpPr/>
          <p:nvPr/>
        </p:nvSpPr>
        <p:spPr>
          <a:xfrm>
            <a:off x="2065972" y="2026548"/>
            <a:ext cx="1645920" cy="7543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IN" sz="1100">
                <a:effectLst/>
                <a:latin typeface="Times New Roman"/>
                <a:ea typeface="Times New Roman"/>
              </a:rPr>
              <a:t>Data Set</a:t>
            </a:r>
          </a:p>
        </p:txBody>
      </p:sp>
    </p:spTree>
    <p:extLst>
      <p:ext uri="{BB962C8B-B14F-4D97-AF65-F5344CB8AC3E}">
        <p14:creationId xmlns:p14="http://schemas.microsoft.com/office/powerpoint/2010/main" val="371002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2200" dirty="0">
                <a:latin typeface="Times New Roman" panose="02020603050405020304" pitchFamily="18" charset="0"/>
                <a:cs typeface="Times New Roman" panose="02020603050405020304" pitchFamily="18" charset="0"/>
              </a:rPr>
              <a:t>Deep learning is a method in artificial intelligence (AI) that teaches computers to process data in a way that is inspired by the human brain. Deep learning models can recognize complex patterns in pictures, text, sounds, and other data to produce accurate insights and predictions. The adjective "deep" refers to the use of multiple layers in the network. Methods used can be either supervised, semi-supervised or unsupervised.</a:t>
            </a:r>
            <a:endParaRPr lang="en-IN" sz="2200" dirty="0">
              <a:latin typeface="Times New Roman" panose="02020603050405020304" pitchFamily="18" charset="0"/>
              <a:cs typeface="Times New Roman" panose="02020603050405020304" pitchFamily="18" charset="0"/>
            </a:endParaRPr>
          </a:p>
          <a:p>
            <a:endParaRPr lang="en-IN" dirty="0"/>
          </a:p>
        </p:txBody>
      </p:sp>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Deep Learning</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75006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sz="2000" b="1" dirty="0" smtClean="0">
                <a:latin typeface="Times New Roman" panose="02020603050405020304" pitchFamily="18" charset="0"/>
                <a:cs typeface="Times New Roman" panose="02020603050405020304" pitchFamily="18" charset="0"/>
              </a:rPr>
              <a:t>ResNet-50</a:t>
            </a:r>
            <a:r>
              <a:rPr lang="en-US"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stands for </a:t>
            </a:r>
            <a:r>
              <a:rPr lang="en-US" sz="2000" b="1" dirty="0">
                <a:latin typeface="Times New Roman" panose="02020603050405020304" pitchFamily="18" charset="0"/>
                <a:cs typeface="Times New Roman" panose="02020603050405020304" pitchFamily="18" charset="0"/>
              </a:rPr>
              <a:t>Residual Network with 50 layers</a:t>
            </a:r>
            <a:r>
              <a:rPr lang="en-US" sz="2000" dirty="0">
                <a:latin typeface="Times New Roman" panose="02020603050405020304" pitchFamily="18" charset="0"/>
                <a:cs typeface="Times New Roman" panose="02020603050405020304" pitchFamily="18" charset="0"/>
              </a:rPr>
              <a:t>. It is built on the concept of residual learning, which helps in training very deep networks </a:t>
            </a:r>
            <a:r>
              <a:rPr lang="en-US" sz="2000" dirty="0" smtClean="0">
                <a:latin typeface="Times New Roman" panose="02020603050405020304" pitchFamily="18" charset="0"/>
                <a:cs typeface="Times New Roman" panose="02020603050405020304" pitchFamily="18" charset="0"/>
              </a:rPr>
              <a:t>effectively.</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network consists of </a:t>
            </a:r>
            <a:r>
              <a:rPr lang="en-US" sz="2000" b="1" dirty="0">
                <a:latin typeface="Times New Roman" panose="02020603050405020304" pitchFamily="18" charset="0"/>
                <a:cs typeface="Times New Roman" panose="02020603050405020304" pitchFamily="18" charset="0"/>
              </a:rPr>
              <a:t>5 stages</a:t>
            </a:r>
            <a:r>
              <a:rPr lang="en-US" sz="2000" dirty="0">
                <a:latin typeface="Times New Roman" panose="02020603050405020304" pitchFamily="18" charset="0"/>
                <a:cs typeface="Times New Roman" panose="02020603050405020304" pitchFamily="18" charset="0"/>
              </a:rPr>
              <a:t>, each with a series of convolutional layers, followed by batch normalization and </a:t>
            </a:r>
            <a:r>
              <a:rPr lang="en-US" sz="2000" dirty="0" err="1">
                <a:latin typeface="Times New Roman" panose="02020603050405020304" pitchFamily="18" charset="0"/>
                <a:cs typeface="Times New Roman" panose="02020603050405020304" pitchFamily="18" charset="0"/>
              </a:rPr>
              <a:t>ReLU</a:t>
            </a:r>
            <a:r>
              <a:rPr lang="en-US" sz="2000" dirty="0">
                <a:latin typeface="Times New Roman" panose="02020603050405020304" pitchFamily="18" charset="0"/>
                <a:cs typeface="Times New Roman" panose="02020603050405020304" pitchFamily="18" charset="0"/>
              </a:rPr>
              <a:t> activation.</a:t>
            </a:r>
          </a:p>
          <a:p>
            <a:r>
              <a:rPr lang="en-US" sz="2000" b="1" dirty="0">
                <a:latin typeface="Times New Roman" panose="02020603050405020304" pitchFamily="18" charset="0"/>
                <a:cs typeface="Times New Roman" panose="02020603050405020304" pitchFamily="18" charset="0"/>
              </a:rPr>
              <a:t>Skip connections</a:t>
            </a:r>
            <a:r>
              <a:rPr lang="en-US" sz="2000" dirty="0">
                <a:latin typeface="Times New Roman" panose="02020603050405020304" pitchFamily="18" charset="0"/>
                <a:cs typeface="Times New Roman" panose="02020603050405020304" pitchFamily="18" charset="0"/>
              </a:rPr>
              <a:t> (or shortcut connections) are a key feature of ResNet-50. These connections allow the gradient to flow through the network more effectively, addressing the vanishing gradient problem</a:t>
            </a:r>
          </a:p>
          <a:p>
            <a:r>
              <a:rPr lang="en-US" sz="2100" b="1" dirty="0">
                <a:latin typeface="Times New Roman" panose="02020603050405020304" pitchFamily="18" charset="0"/>
                <a:cs typeface="Times New Roman" panose="02020603050405020304" pitchFamily="18" charset="0"/>
              </a:rPr>
              <a:t>Residual Blocks</a:t>
            </a:r>
            <a:r>
              <a:rPr lang="en-US" sz="2100" dirty="0">
                <a:latin typeface="Times New Roman" panose="02020603050405020304" pitchFamily="18" charset="0"/>
                <a:cs typeface="Times New Roman" panose="02020603050405020304" pitchFamily="18" charset="0"/>
              </a:rPr>
              <a:t>: These blocks allow the network to learn residual functions with reference to the layer inputs, making it easier to train deeper networks.</a:t>
            </a:r>
          </a:p>
          <a:p>
            <a:r>
              <a:rPr lang="en-US" sz="2100" b="1" dirty="0">
                <a:latin typeface="Times New Roman" panose="02020603050405020304" pitchFamily="18" charset="0"/>
                <a:cs typeface="Times New Roman" panose="02020603050405020304" pitchFamily="18" charset="0"/>
              </a:rPr>
              <a:t>Skip Connections</a:t>
            </a:r>
            <a:r>
              <a:rPr lang="en-US" sz="2100" dirty="0">
                <a:latin typeface="Times New Roman" panose="02020603050405020304" pitchFamily="18" charset="0"/>
                <a:cs typeface="Times New Roman" panose="02020603050405020304" pitchFamily="18" charset="0"/>
              </a:rPr>
              <a:t>: These connections help in preserving the information from earlier layers, which improves the learning process.</a:t>
            </a:r>
          </a:p>
          <a:p>
            <a:r>
              <a:rPr lang="en-US" sz="2100" b="1" dirty="0">
                <a:latin typeface="Times New Roman" panose="02020603050405020304" pitchFamily="18" charset="0"/>
                <a:cs typeface="Times New Roman" panose="02020603050405020304" pitchFamily="18" charset="0"/>
              </a:rPr>
              <a:t>Deep Network</a:t>
            </a:r>
            <a:r>
              <a:rPr lang="en-US" sz="2100" dirty="0">
                <a:latin typeface="Times New Roman" panose="02020603050405020304" pitchFamily="18" charset="0"/>
                <a:cs typeface="Times New Roman" panose="02020603050405020304" pitchFamily="18" charset="0"/>
              </a:rPr>
              <a:t>: ResNet-50 can have up to 50 layers, which allows it to learn more complex features from the input data.</a:t>
            </a:r>
          </a:p>
          <a:p>
            <a:endParaRPr lang="en-IN" dirty="0"/>
          </a:p>
        </p:txBody>
      </p:sp>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ResNet-50</a:t>
            </a:r>
          </a:p>
        </p:txBody>
      </p:sp>
    </p:spTree>
    <p:extLst>
      <p:ext uri="{BB962C8B-B14F-4D97-AF65-F5344CB8AC3E}">
        <p14:creationId xmlns:p14="http://schemas.microsoft.com/office/powerpoint/2010/main" val="27706992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r>
              <a:rPr lang="en-US" sz="1600" b="1" dirty="0">
                <a:latin typeface="Times New Roman" panose="02020603050405020304" pitchFamily="18" charset="0"/>
                <a:cs typeface="Times New Roman" panose="02020603050405020304" pitchFamily="18" charset="0"/>
              </a:rPr>
              <a:t>Inception Modules</a:t>
            </a:r>
            <a:r>
              <a:rPr lang="en-US" sz="1600" dirty="0">
                <a:latin typeface="Times New Roman" panose="02020603050405020304" pitchFamily="18" charset="0"/>
                <a:cs typeface="Times New Roman" panose="02020603050405020304" pitchFamily="18" charset="0"/>
              </a:rPr>
              <a:t>: The architecture is built using multiple inception modules, which are small networks within the larger network. Each module performs several convolutions of different sizes (1x1, 3x3, 5x5) in parallel2.</a:t>
            </a:r>
          </a:p>
          <a:p>
            <a:r>
              <a:rPr lang="en-US" sz="1600" b="1" dirty="0">
                <a:latin typeface="Times New Roman" panose="02020603050405020304" pitchFamily="18" charset="0"/>
                <a:cs typeface="Times New Roman" panose="02020603050405020304" pitchFamily="18" charset="0"/>
              </a:rPr>
              <a:t>Factorized Convolutions</a:t>
            </a:r>
            <a:r>
              <a:rPr lang="en-US" sz="1600" dirty="0">
                <a:latin typeface="Times New Roman" panose="02020603050405020304" pitchFamily="18" charset="0"/>
                <a:cs typeface="Times New Roman" panose="02020603050405020304" pitchFamily="18" charset="0"/>
              </a:rPr>
              <a:t>: Instead of using large convolutions directly, Inception V3 uses factorized convolutions (e.g., splitting a 7x7 convolution into two 3x3 convolutions) to reduce computational cost.</a:t>
            </a:r>
          </a:p>
          <a:p>
            <a:r>
              <a:rPr lang="en-US" sz="1600" b="1" dirty="0">
                <a:latin typeface="Times New Roman" panose="02020603050405020304" pitchFamily="18" charset="0"/>
                <a:cs typeface="Times New Roman" panose="02020603050405020304" pitchFamily="18" charset="0"/>
              </a:rPr>
              <a:t>Auxiliary Classifiers</a:t>
            </a:r>
            <a:r>
              <a:rPr lang="en-US" sz="1600" dirty="0">
                <a:latin typeface="Times New Roman" panose="02020603050405020304" pitchFamily="18" charset="0"/>
                <a:cs typeface="Times New Roman" panose="02020603050405020304" pitchFamily="18" charset="0"/>
              </a:rPr>
              <a:t>: These are added to the intermediate layers to help with training by providing additional gradient signals.</a:t>
            </a:r>
          </a:p>
          <a:p>
            <a:r>
              <a:rPr lang="en-US" sz="1600" b="1" dirty="0">
                <a:latin typeface="Times New Roman" panose="02020603050405020304" pitchFamily="18" charset="0"/>
                <a:cs typeface="Times New Roman" panose="02020603050405020304" pitchFamily="18" charset="0"/>
              </a:rPr>
              <a:t>Batch Normalization</a:t>
            </a:r>
            <a:r>
              <a:rPr lang="en-US" sz="1600" dirty="0">
                <a:latin typeface="Times New Roman" panose="02020603050405020304" pitchFamily="18" charset="0"/>
                <a:cs typeface="Times New Roman" panose="02020603050405020304" pitchFamily="18" charset="0"/>
              </a:rPr>
              <a:t>: This technique is used to normalize the input of each layer, which helps in stabilizing and speeding up the training process</a:t>
            </a:r>
            <a:r>
              <a:rPr lang="en-US" sz="1600" dirty="0" smtClean="0">
                <a:latin typeface="Times New Roman" panose="02020603050405020304" pitchFamily="18" charset="0"/>
                <a:cs typeface="Times New Roman" panose="02020603050405020304" pitchFamily="18" charset="0"/>
              </a:rPr>
              <a:t>.</a:t>
            </a:r>
          </a:p>
          <a:p>
            <a:r>
              <a:rPr lang="en-US" sz="1600" b="1" dirty="0"/>
              <a:t>Label Smoothing</a:t>
            </a:r>
            <a:r>
              <a:rPr lang="en-US" sz="1600" dirty="0"/>
              <a:t>: This technique helps in improving the model's generalization by preventing the model from becoming too confident about its predictions.</a:t>
            </a:r>
          </a:p>
          <a:p>
            <a:r>
              <a:rPr lang="en-US" sz="1600" b="1" dirty="0"/>
              <a:t>Efficiency</a:t>
            </a:r>
            <a:r>
              <a:rPr lang="en-US" sz="1600" dirty="0"/>
              <a:t>: Despite being deeper and more complex than its predecessors, Inception V3 is designed to be computationally efficient.</a:t>
            </a:r>
          </a:p>
          <a:p>
            <a:r>
              <a:rPr lang="en-US" sz="1600" b="1" dirty="0"/>
              <a:t>Versatility</a:t>
            </a:r>
            <a:r>
              <a:rPr lang="en-US" sz="1600" dirty="0"/>
              <a:t>: It can be used for various tasks such as image classification, object detection, and more.</a:t>
            </a:r>
          </a:p>
          <a:p>
            <a:endParaRPr lang="en-US" sz="1600" dirty="0">
              <a:latin typeface="Times New Roman" panose="02020603050405020304" pitchFamily="18" charset="0"/>
              <a:cs typeface="Times New Roman" panose="02020603050405020304" pitchFamily="18" charset="0"/>
            </a:endParaRPr>
          </a:p>
          <a:p>
            <a:endParaRPr lang="en-IN" dirty="0"/>
          </a:p>
        </p:txBody>
      </p:sp>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Inception V3</a:t>
            </a:r>
            <a:r>
              <a:rPr lang="en-IN" dirty="0">
                <a:latin typeface="Times New Roman" panose="02020603050405020304" pitchFamily="18" charset="0"/>
                <a:cs typeface="Times New Roman" panose="02020603050405020304" pitchFamily="18" charset="0"/>
              </a:rPr>
              <a:t> </a:t>
            </a:r>
            <a:br>
              <a:rPr lang="en-IN" dirty="0">
                <a:latin typeface="Times New Roman" panose="02020603050405020304" pitchFamily="18" charset="0"/>
                <a:cs typeface="Times New Roman" panose="02020603050405020304" pitchFamily="18" charset="0"/>
              </a:rPr>
            </a:br>
            <a:r>
              <a:rPr lang="en-IN" dirty="0" smtClean="0">
                <a:latin typeface="Times New Roman" panose="02020603050405020304" pitchFamily="18" charset="0"/>
                <a:cs typeface="Times New Roman" panose="02020603050405020304" pitchFamily="18" charset="0"/>
              </a:rPr>
              <a:t> </a:t>
            </a:r>
            <a:r>
              <a:rPr lang="en-IN" sz="2700" dirty="0">
                <a:latin typeface="Times New Roman" panose="02020603050405020304" pitchFamily="18" charset="0"/>
                <a:cs typeface="Times New Roman" panose="02020603050405020304" pitchFamily="18" charset="0"/>
              </a:rPr>
              <a:t>C</a:t>
            </a:r>
            <a:r>
              <a:rPr lang="en-IN" sz="2700" dirty="0" smtClean="0">
                <a:latin typeface="Times New Roman" panose="02020603050405020304" pitchFamily="18" charset="0"/>
                <a:cs typeface="Times New Roman" panose="02020603050405020304" pitchFamily="18" charset="0"/>
              </a:rPr>
              <a:t>onvolutional </a:t>
            </a:r>
            <a:r>
              <a:rPr lang="en-IN" sz="2700" dirty="0">
                <a:latin typeface="Times New Roman" panose="02020603050405020304" pitchFamily="18" charset="0"/>
                <a:cs typeface="Times New Roman" panose="02020603050405020304" pitchFamily="18" charset="0"/>
              </a:rPr>
              <a:t>N</a:t>
            </a:r>
            <a:r>
              <a:rPr lang="en-IN" sz="2700" dirty="0" smtClean="0">
                <a:latin typeface="Times New Roman" panose="02020603050405020304" pitchFamily="18" charset="0"/>
                <a:cs typeface="Times New Roman" panose="02020603050405020304" pitchFamily="18" charset="0"/>
              </a:rPr>
              <a:t>eural </a:t>
            </a:r>
            <a:r>
              <a:rPr lang="en-IN" sz="2700" dirty="0">
                <a:latin typeface="Times New Roman" panose="02020603050405020304" pitchFamily="18" charset="0"/>
                <a:cs typeface="Times New Roman" panose="02020603050405020304" pitchFamily="18" charset="0"/>
              </a:rPr>
              <a:t>N</a:t>
            </a:r>
            <a:r>
              <a:rPr lang="en-IN" sz="2700" dirty="0" smtClean="0">
                <a:latin typeface="Times New Roman" panose="02020603050405020304" pitchFamily="18" charset="0"/>
                <a:cs typeface="Times New Roman" panose="02020603050405020304" pitchFamily="18" charset="0"/>
              </a:rPr>
              <a:t>etwork (CNN)</a:t>
            </a:r>
            <a:endParaRPr lang="en-IN" sz="2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0512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sz="1700" b="1" dirty="0">
                <a:latin typeface="Times New Roman" panose="02020603050405020304" pitchFamily="18" charset="0"/>
                <a:cs typeface="Times New Roman" panose="02020603050405020304" pitchFamily="18" charset="0"/>
              </a:rPr>
              <a:t>Layers</a:t>
            </a:r>
            <a:r>
              <a:rPr lang="en-US" sz="1700" dirty="0">
                <a:latin typeface="Times New Roman" panose="02020603050405020304" pitchFamily="18" charset="0"/>
                <a:cs typeface="Times New Roman" panose="02020603050405020304" pitchFamily="18" charset="0"/>
              </a:rPr>
              <a:t>: VGG16 consists of 16 layers, including 13 convolutional layers and 3 fully connected layers. The network follows a very straightforward and uniform structure, using only 3x3 convolutional filters and 2x2 max-pooling layers.</a:t>
            </a:r>
          </a:p>
          <a:p>
            <a:r>
              <a:rPr lang="en-US" sz="1700" b="1" dirty="0">
                <a:latin typeface="Times New Roman" panose="02020603050405020304" pitchFamily="18" charset="0"/>
                <a:cs typeface="Times New Roman" panose="02020603050405020304" pitchFamily="18" charset="0"/>
              </a:rPr>
              <a:t>Depth</a:t>
            </a:r>
            <a:r>
              <a:rPr lang="en-US" sz="1700" dirty="0">
                <a:latin typeface="Times New Roman" panose="02020603050405020304" pitchFamily="18" charset="0"/>
                <a:cs typeface="Times New Roman" panose="02020603050405020304" pitchFamily="18" charset="0"/>
              </a:rPr>
              <a:t>: This depth allows VGG16 to capture more complex patterns and features from the input images.</a:t>
            </a:r>
          </a:p>
          <a:p>
            <a:r>
              <a:rPr lang="en-US" sz="1700" b="1" dirty="0">
                <a:latin typeface="Times New Roman" panose="02020603050405020304" pitchFamily="18" charset="0"/>
                <a:cs typeface="Times New Roman" panose="02020603050405020304" pitchFamily="18" charset="0"/>
              </a:rPr>
              <a:t>Sequential Model</a:t>
            </a:r>
            <a:r>
              <a:rPr lang="en-US" sz="1700" dirty="0">
                <a:latin typeface="Times New Roman" panose="02020603050405020304" pitchFamily="18" charset="0"/>
                <a:cs typeface="Times New Roman" panose="02020603050405020304" pitchFamily="18" charset="0"/>
              </a:rPr>
              <a:t>: Unlike more complex architectures with inception modules or residual connections, VGG16 uses a sequential model where each layer is stacked on top of the previous one</a:t>
            </a:r>
            <a:r>
              <a:rPr lang="en-US" sz="1700" dirty="0" smtClean="0">
                <a:latin typeface="Times New Roman" panose="02020603050405020304" pitchFamily="18" charset="0"/>
                <a:cs typeface="Times New Roman" panose="02020603050405020304" pitchFamily="18" charset="0"/>
              </a:rPr>
              <a:t>.</a:t>
            </a:r>
          </a:p>
          <a:p>
            <a:r>
              <a:rPr lang="en-US" sz="1700" b="1" dirty="0">
                <a:latin typeface="Times New Roman" panose="02020603050405020304" pitchFamily="18" charset="0"/>
                <a:cs typeface="Times New Roman" panose="02020603050405020304" pitchFamily="18" charset="0"/>
              </a:rPr>
              <a:t>Simple Design</a:t>
            </a:r>
            <a:r>
              <a:rPr lang="en-US" sz="1700" dirty="0">
                <a:latin typeface="Times New Roman" panose="02020603050405020304" pitchFamily="18" charset="0"/>
                <a:cs typeface="Times New Roman" panose="02020603050405020304" pitchFamily="18" charset="0"/>
              </a:rPr>
              <a:t>: The simplicity and uniformity of using 3x3 convolutional filters make the architecture easy to understand and implement.</a:t>
            </a:r>
          </a:p>
          <a:p>
            <a:r>
              <a:rPr lang="en-US" sz="1700" b="1" dirty="0">
                <a:latin typeface="Times New Roman" panose="02020603050405020304" pitchFamily="18" charset="0"/>
                <a:cs typeface="Times New Roman" panose="02020603050405020304" pitchFamily="18" charset="0"/>
              </a:rPr>
              <a:t>Transfer Learning</a:t>
            </a:r>
            <a:r>
              <a:rPr lang="en-US" sz="1700" dirty="0">
                <a:latin typeface="Times New Roman" panose="02020603050405020304" pitchFamily="18" charset="0"/>
                <a:cs typeface="Times New Roman" panose="02020603050405020304" pitchFamily="18" charset="0"/>
              </a:rPr>
              <a:t>: VGG16 is often used for transfer learning, where the pre-trained model on large datasets like </a:t>
            </a:r>
            <a:r>
              <a:rPr lang="en-US" sz="1700" dirty="0" err="1">
                <a:latin typeface="Times New Roman" panose="02020603050405020304" pitchFamily="18" charset="0"/>
                <a:cs typeface="Times New Roman" panose="02020603050405020304" pitchFamily="18" charset="0"/>
              </a:rPr>
              <a:t>ImageNet</a:t>
            </a:r>
            <a:r>
              <a:rPr lang="en-US" sz="1700" dirty="0">
                <a:latin typeface="Times New Roman" panose="02020603050405020304" pitchFamily="18" charset="0"/>
                <a:cs typeface="Times New Roman" panose="02020603050405020304" pitchFamily="18" charset="0"/>
              </a:rPr>
              <a:t> is fine-tuned for specific tasks.</a:t>
            </a:r>
          </a:p>
          <a:p>
            <a:r>
              <a:rPr lang="en-US" sz="1700" b="1" dirty="0">
                <a:latin typeface="Times New Roman" panose="02020603050405020304" pitchFamily="18" charset="0"/>
                <a:cs typeface="Times New Roman" panose="02020603050405020304" pitchFamily="18" charset="0"/>
              </a:rPr>
              <a:t>High Performance</a:t>
            </a:r>
            <a:r>
              <a:rPr lang="en-US" sz="1700" dirty="0">
                <a:latin typeface="Times New Roman" panose="02020603050405020304" pitchFamily="18" charset="0"/>
                <a:cs typeface="Times New Roman" panose="02020603050405020304" pitchFamily="18" charset="0"/>
              </a:rPr>
              <a:t>: Despite its simplicity, VGG16 has achieved strong performance in image classification tasks and other vision-related applications.</a:t>
            </a:r>
          </a:p>
          <a:p>
            <a:endParaRPr lang="en-US" sz="1900" dirty="0" smtClean="0">
              <a:latin typeface="Times New Roman" panose="02020603050405020304" pitchFamily="18" charset="0"/>
              <a:cs typeface="Times New Roman" panose="02020603050405020304" pitchFamily="18" charset="0"/>
            </a:endParaRPr>
          </a:p>
          <a:p>
            <a:endParaRPr lang="en-IN" dirty="0"/>
          </a:p>
        </p:txBody>
      </p:sp>
      <p:sp>
        <p:nvSpPr>
          <p:cNvPr id="2" name="Title 1"/>
          <p:cNvSpPr>
            <a:spLocks noGrp="1"/>
          </p:cNvSpPr>
          <p:nvPr>
            <p:ph type="title"/>
          </p:nvPr>
        </p:nvSpPr>
        <p:spPr/>
        <p:txBody>
          <a:bodyPr>
            <a:normAutofit fontScale="90000"/>
          </a:bodyPr>
          <a:lstStyle/>
          <a:p>
            <a:r>
              <a:rPr lang="en-US" b="1" dirty="0" smtClean="0">
                <a:latin typeface="Times New Roman" panose="02020603050405020304" pitchFamily="18" charset="0"/>
                <a:cs typeface="Times New Roman" panose="02020603050405020304" pitchFamily="18" charset="0"/>
              </a:rPr>
              <a:t>(VGG16</a:t>
            </a:r>
            <a:r>
              <a:rPr lang="en-US"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Visual Geometry </a:t>
            </a:r>
            <a:r>
              <a:rPr lang="en-US" b="1" dirty="0" smtClean="0">
                <a:latin typeface="Times New Roman" panose="02020603050405020304" pitchFamily="18" charset="0"/>
                <a:cs typeface="Times New Roman" panose="02020603050405020304" pitchFamily="18" charset="0"/>
              </a:rPr>
              <a:t>Group-16</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6043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r>
              <a:rPr lang="en-US" sz="1700" b="1" dirty="0">
                <a:latin typeface="Times New Roman" panose="02020603050405020304" pitchFamily="18" charset="0"/>
                <a:cs typeface="Times New Roman" panose="02020603050405020304" pitchFamily="18" charset="0"/>
              </a:rPr>
              <a:t>Multiple Layers</a:t>
            </a:r>
            <a:r>
              <a:rPr lang="en-US" sz="1700" dirty="0">
                <a:latin typeface="Times New Roman" panose="02020603050405020304" pitchFamily="18" charset="0"/>
                <a:cs typeface="Times New Roman" panose="02020603050405020304" pitchFamily="18" charset="0"/>
              </a:rPr>
              <a:t>: DBNs consist of multiple layers of hidden units. Each layer learns to represent the data in a more abstract way than the previous one3.</a:t>
            </a:r>
          </a:p>
          <a:p>
            <a:r>
              <a:rPr lang="en-US" sz="1700" b="1" dirty="0">
                <a:latin typeface="Times New Roman" panose="02020603050405020304" pitchFamily="18" charset="0"/>
                <a:cs typeface="Times New Roman" panose="02020603050405020304" pitchFamily="18" charset="0"/>
              </a:rPr>
              <a:t>Restricted Boltzmann Machines (RBMs)</a:t>
            </a:r>
            <a:r>
              <a:rPr lang="en-US" sz="1700" dirty="0">
                <a:latin typeface="Times New Roman" panose="02020603050405020304" pitchFamily="18" charset="0"/>
                <a:cs typeface="Times New Roman" panose="02020603050405020304" pitchFamily="18" charset="0"/>
              </a:rPr>
              <a:t>: The layers in a DBN are typically composed of RBMs, which are unsupervised learning models that learn to reconstruct the input data.</a:t>
            </a:r>
          </a:p>
          <a:p>
            <a:r>
              <a:rPr lang="en-US" sz="1700" b="1" dirty="0">
                <a:latin typeface="Times New Roman" panose="02020603050405020304" pitchFamily="18" charset="0"/>
                <a:cs typeface="Times New Roman" panose="02020603050405020304" pitchFamily="18" charset="0"/>
              </a:rPr>
              <a:t>Stacked RBMs</a:t>
            </a:r>
            <a:r>
              <a:rPr lang="en-US" sz="1700" dirty="0">
                <a:latin typeface="Times New Roman" panose="02020603050405020304" pitchFamily="18" charset="0"/>
                <a:cs typeface="Times New Roman" panose="02020603050405020304" pitchFamily="18" charset="0"/>
              </a:rPr>
              <a:t>: DBNs are essentially stacks of RBMs, where the hidden layer of one RBM serves as the visible layer for the next RBM.</a:t>
            </a:r>
          </a:p>
          <a:p>
            <a:r>
              <a:rPr lang="en-US" sz="1700" b="1" dirty="0">
                <a:latin typeface="Times New Roman" panose="02020603050405020304" pitchFamily="18" charset="0"/>
                <a:cs typeface="Times New Roman" panose="02020603050405020304" pitchFamily="18" charset="0"/>
              </a:rPr>
              <a:t>Generative Model</a:t>
            </a:r>
            <a:r>
              <a:rPr lang="en-US" sz="1700" dirty="0">
                <a:latin typeface="Times New Roman" panose="02020603050405020304" pitchFamily="18" charset="0"/>
                <a:cs typeface="Times New Roman" panose="02020603050405020304" pitchFamily="18" charset="0"/>
              </a:rPr>
              <a:t>: DBNs can generate new data samples that are similar to the training data, making them useful for tasks like image generation and anomaly detection.</a:t>
            </a:r>
          </a:p>
          <a:p>
            <a:r>
              <a:rPr lang="en-US" sz="1700" b="1" dirty="0">
                <a:latin typeface="Times New Roman" panose="02020603050405020304" pitchFamily="18" charset="0"/>
                <a:cs typeface="Times New Roman" panose="02020603050405020304" pitchFamily="18" charset="0"/>
              </a:rPr>
              <a:t>Feature Extraction</a:t>
            </a:r>
            <a:r>
              <a:rPr lang="en-US" sz="1700" dirty="0">
                <a:latin typeface="Times New Roman" panose="02020603050405020304" pitchFamily="18" charset="0"/>
                <a:cs typeface="Times New Roman" panose="02020603050405020304" pitchFamily="18" charset="0"/>
              </a:rPr>
              <a:t>: They are effective at learning complex, high-level features from data, which can be useful for tasks like classification and clustering.</a:t>
            </a:r>
          </a:p>
          <a:p>
            <a:r>
              <a:rPr lang="en-US" sz="1700" b="1" dirty="0">
                <a:latin typeface="Times New Roman" panose="02020603050405020304" pitchFamily="18" charset="0"/>
                <a:cs typeface="Times New Roman" panose="02020603050405020304" pitchFamily="18" charset="0"/>
              </a:rPr>
              <a:t>Layer-wise Training</a:t>
            </a:r>
            <a:r>
              <a:rPr lang="en-US" sz="1700" dirty="0">
                <a:latin typeface="Times New Roman" panose="02020603050405020304" pitchFamily="18" charset="0"/>
                <a:cs typeface="Times New Roman" panose="02020603050405020304" pitchFamily="18" charset="0"/>
              </a:rPr>
              <a:t>: Training DBNs layer-by-layer helps in better initialization of weights, which can lead to faster convergence during the fine-tuning phase</a:t>
            </a:r>
          </a:p>
          <a:p>
            <a:r>
              <a:rPr lang="en-US" sz="1600" b="1" dirty="0" smtClean="0">
                <a:latin typeface="Times New Roman" panose="02020603050405020304" pitchFamily="18" charset="0"/>
                <a:cs typeface="Times New Roman" panose="02020603050405020304" pitchFamily="18" charset="0"/>
              </a:rPr>
              <a:t>Accuracy: </a:t>
            </a:r>
            <a:r>
              <a:rPr lang="en-US" sz="1600" dirty="0" smtClean="0">
                <a:latin typeface="Times New Roman" panose="02020603050405020304" pitchFamily="18" charset="0"/>
                <a:cs typeface="Times New Roman" panose="02020603050405020304" pitchFamily="18" charset="0"/>
              </a:rPr>
              <a:t>The </a:t>
            </a:r>
            <a:r>
              <a:rPr lang="en-US" sz="1600" dirty="0">
                <a:latin typeface="Times New Roman" panose="02020603050405020304" pitchFamily="18" charset="0"/>
                <a:cs typeface="Times New Roman" panose="02020603050405020304" pitchFamily="18" charset="0"/>
              </a:rPr>
              <a:t>proposed </a:t>
            </a:r>
            <a:r>
              <a:rPr lang="en-US" sz="1600" dirty="0" smtClean="0">
                <a:latin typeface="Times New Roman" panose="02020603050405020304" pitchFamily="18" charset="0"/>
                <a:cs typeface="Times New Roman" panose="02020603050405020304" pitchFamily="18" charset="0"/>
              </a:rPr>
              <a:t>method </a:t>
            </a:r>
            <a:r>
              <a:rPr lang="en-US" sz="1600" dirty="0">
                <a:latin typeface="Times New Roman" panose="02020603050405020304" pitchFamily="18" charset="0"/>
                <a:cs typeface="Times New Roman" panose="02020603050405020304" pitchFamily="18" charset="0"/>
              </a:rPr>
              <a:t>produced </a:t>
            </a:r>
            <a:r>
              <a:rPr lang="en-US" sz="1600" dirty="0" smtClean="0">
                <a:latin typeface="Times New Roman" panose="02020603050405020304" pitchFamily="18" charset="0"/>
                <a:cs typeface="Times New Roman" panose="02020603050405020304" pitchFamily="18" charset="0"/>
              </a:rPr>
              <a:t>100 % </a:t>
            </a:r>
            <a:r>
              <a:rPr lang="en-US" sz="1600" dirty="0">
                <a:latin typeface="Times New Roman" panose="02020603050405020304" pitchFamily="18" charset="0"/>
                <a:cs typeface="Times New Roman" panose="02020603050405020304" pitchFamily="18" charset="0"/>
              </a:rPr>
              <a:t>testing accuracies respectively with </a:t>
            </a:r>
            <a:r>
              <a:rPr lang="en-US" sz="1600" dirty="0" smtClean="0">
                <a:latin typeface="Times New Roman" panose="02020603050405020304" pitchFamily="18" charset="0"/>
                <a:cs typeface="Times New Roman" panose="02020603050405020304" pitchFamily="18" charset="0"/>
              </a:rPr>
              <a:t>DBN </a:t>
            </a:r>
            <a:r>
              <a:rPr lang="en-US" sz="1600" dirty="0">
                <a:latin typeface="Times New Roman" panose="02020603050405020304" pitchFamily="18" charset="0"/>
                <a:cs typeface="Times New Roman" panose="02020603050405020304" pitchFamily="18" charset="0"/>
              </a:rPr>
              <a:t>testing samples and achieved highest performance in the detection of brain </a:t>
            </a:r>
            <a:r>
              <a:rPr lang="en-US" sz="1600" dirty="0" smtClean="0">
                <a:latin typeface="Times New Roman" panose="02020603050405020304" pitchFamily="18" charset="0"/>
                <a:cs typeface="Times New Roman" panose="02020603050405020304" pitchFamily="18" charset="0"/>
              </a:rPr>
              <a:t>tumor.</a:t>
            </a:r>
            <a:endParaRPr lang="en-IN" sz="1600"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Deep Belief Network (DBN)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0915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094547" y="2674938"/>
            <a:ext cx="4962843" cy="345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Output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89133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marL="0" indent="0" algn="just">
              <a:buNone/>
            </a:pPr>
            <a:r>
              <a:rPr lang="en-US" dirty="0">
                <a:latin typeface="Times New Roman" panose="02020603050405020304" pitchFamily="18" charset="0"/>
                <a:cs typeface="Times New Roman" panose="02020603050405020304" pitchFamily="18" charset="0"/>
              </a:rPr>
              <a:t>The performance metrics used to evaluate the model are Accuracy, Precision, Recall and Confusion Matrix for visual representation.</a:t>
            </a:r>
          </a:p>
          <a:p>
            <a:pPr marL="0" indent="0" algn="just">
              <a:buNone/>
            </a:pPr>
            <a:r>
              <a:rPr lang="en-US" b="1" dirty="0">
                <a:latin typeface="Times New Roman" panose="02020603050405020304" pitchFamily="18" charset="0"/>
                <a:cs typeface="Times New Roman" panose="02020603050405020304" pitchFamily="18" charset="0"/>
              </a:rPr>
              <a:t>Accuracy:</a:t>
            </a:r>
            <a:r>
              <a:rPr lang="en-US" dirty="0">
                <a:latin typeface="Times New Roman" panose="02020603050405020304" pitchFamily="18" charset="0"/>
                <a:cs typeface="Times New Roman" panose="02020603050405020304" pitchFamily="18" charset="0"/>
              </a:rPr>
              <a:t> is one of the simplest Classification metrics to implement, and it can be determined as the number of correct predictions to the total number of predictions.</a:t>
            </a:r>
          </a:p>
          <a:p>
            <a:pPr marL="0" indent="0" algn="just">
              <a:buNone/>
            </a:pPr>
            <a:r>
              <a:rPr lang="en-US" b="1" dirty="0">
                <a:latin typeface="Times New Roman" panose="02020603050405020304" pitchFamily="18" charset="0"/>
                <a:cs typeface="Times New Roman" panose="02020603050405020304" pitchFamily="18" charset="0"/>
              </a:rPr>
              <a:t>Precision:</a:t>
            </a:r>
            <a:r>
              <a:rPr lang="en-US" dirty="0">
                <a:latin typeface="Times New Roman" panose="02020603050405020304" pitchFamily="18" charset="0"/>
                <a:cs typeface="Times New Roman" panose="02020603050405020304" pitchFamily="18" charset="0"/>
              </a:rPr>
              <a:t> determines the proportion of positive prediction that was actually correct. It can be calculated as the True Positive or predictions that are actually true to the total positive predictions (True Positive and False Positive).</a:t>
            </a:r>
          </a:p>
          <a:p>
            <a:pPr marL="0" indent="0" algn="just">
              <a:buNone/>
            </a:pPr>
            <a:r>
              <a:rPr lang="en-IN" b="1" dirty="0">
                <a:latin typeface="Times New Roman" panose="02020603050405020304" pitchFamily="18" charset="0"/>
                <a:cs typeface="Times New Roman" panose="02020603050405020304" pitchFamily="18" charset="0"/>
              </a:rPr>
              <a:t>Recall: </a:t>
            </a:r>
            <a:r>
              <a:rPr lang="en-US" dirty="0"/>
              <a:t>it aims to calculate the proportion of actual positive that was identified incorrectly. It can be calculated as True Positive or predictions that are actually true to the total number of positives, either correctly predicted as positive or incorrectly predicted as negative (true Positive and false negative).</a:t>
            </a:r>
            <a:endParaRPr lang="en-IN" b="1" dirty="0">
              <a:latin typeface="Times New Roman" panose="02020603050405020304" pitchFamily="18" charset="0"/>
              <a:cs typeface="Times New Roman" panose="02020603050405020304" pitchFamily="18" charset="0"/>
            </a:endParaRPr>
          </a:p>
          <a:p>
            <a:pPr marL="0" indent="0" algn="just">
              <a:buNone/>
            </a:pPr>
            <a:r>
              <a:rPr lang="en-US" b="1" dirty="0">
                <a:latin typeface="Times New Roman" panose="02020603050405020304" pitchFamily="18" charset="0"/>
                <a:cs typeface="Times New Roman" panose="02020603050405020304" pitchFamily="18" charset="0"/>
              </a:rPr>
              <a:t>Confusion Matrix: </a:t>
            </a:r>
            <a:r>
              <a:rPr lang="en-US" dirty="0">
                <a:latin typeface="Times New Roman" panose="02020603050405020304" pitchFamily="18" charset="0"/>
                <a:cs typeface="Times New Roman" panose="02020603050405020304" pitchFamily="18" charset="0"/>
              </a:rPr>
              <a:t>A table that summarizes the number of correct and incorrect predictions by comparing the predicted and actual values</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PERFORMANCE METRICS</a:t>
            </a:r>
            <a:endParaRPr lang="en-IN" b="1" dirty="0"/>
          </a:p>
        </p:txBody>
      </p:sp>
    </p:spTree>
    <p:extLst>
      <p:ext uri="{BB962C8B-B14F-4D97-AF65-F5344CB8AC3E}">
        <p14:creationId xmlns:p14="http://schemas.microsoft.com/office/powerpoint/2010/main" val="3690392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3585230" y="3605102"/>
            <a:ext cx="1981477" cy="1590897"/>
          </a:xfrm>
          <a:prstGeom prst="rect">
            <a:avLst/>
          </a:prstGeom>
        </p:spPr>
      </p:pic>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RESULTS</a:t>
            </a:r>
            <a:endParaRPr lang="en-IN" b="1" dirty="0"/>
          </a:p>
        </p:txBody>
      </p:sp>
    </p:spTree>
    <p:extLst>
      <p:ext uri="{BB962C8B-B14F-4D97-AF65-F5344CB8AC3E}">
        <p14:creationId xmlns:p14="http://schemas.microsoft.com/office/powerpoint/2010/main" val="9069389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3027940" y="3138311"/>
            <a:ext cx="3096057" cy="2524478"/>
          </a:xfrm>
          <a:prstGeom prst="rect">
            <a:avLst/>
          </a:prstGeom>
        </p:spPr>
      </p:pic>
      <p:sp>
        <p:nvSpPr>
          <p:cNvPr id="2" name="Title 1"/>
          <p:cNvSpPr>
            <a:spLocks noGrp="1"/>
          </p:cNvSpPr>
          <p:nvPr>
            <p:ph type="title"/>
          </p:nvPr>
        </p:nvSpPr>
        <p:spPr/>
        <p:txBody>
          <a:bodyPr>
            <a:noAutofit/>
          </a:bodyPr>
          <a:lstStyle/>
          <a:p>
            <a:r>
              <a:rPr lang="en-US" sz="3200" b="1" dirty="0">
                <a:latin typeface="Times New Roman" panose="02020603050405020304" pitchFamily="18" charset="0"/>
                <a:cs typeface="Times New Roman" panose="02020603050405020304" pitchFamily="18" charset="0"/>
              </a:rPr>
              <a:t>CONFUSION MATRICS FOR </a:t>
            </a:r>
            <a:r>
              <a:rPr lang="en-US" sz="3200" b="1" dirty="0" smtClean="0">
                <a:latin typeface="Times New Roman" panose="02020603050405020304" pitchFamily="18" charset="0"/>
                <a:cs typeface="Times New Roman" panose="02020603050405020304" pitchFamily="18" charset="0"/>
              </a:rPr>
              <a:t>VGG 16 </a:t>
            </a:r>
            <a:r>
              <a:rPr lang="en-US" sz="3200" b="1" dirty="0">
                <a:latin typeface="Times New Roman" panose="02020603050405020304" pitchFamily="18" charset="0"/>
                <a:cs typeface="Times New Roman" panose="02020603050405020304" pitchFamily="18" charset="0"/>
              </a:rPr>
              <a:t>ALGORITHM</a:t>
            </a:r>
            <a:endParaRPr lang="en-IN" sz="3200" b="1" dirty="0"/>
          </a:p>
        </p:txBody>
      </p:sp>
    </p:spTree>
    <p:extLst>
      <p:ext uri="{BB962C8B-B14F-4D97-AF65-F5344CB8AC3E}">
        <p14:creationId xmlns:p14="http://schemas.microsoft.com/office/powerpoint/2010/main" val="1672329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696186081"/>
              </p:ext>
            </p:extLst>
          </p:nvPr>
        </p:nvGraphicFramePr>
        <p:xfrm>
          <a:off x="1907704" y="1052736"/>
          <a:ext cx="5040560" cy="5400604"/>
        </p:xfrm>
        <a:graphic>
          <a:graphicData uri="http://schemas.openxmlformats.org/drawingml/2006/table">
            <a:tbl>
              <a:tblPr firstRow="1" firstCol="1" lastRow="1" lastCol="1" bandRow="1" bandCol="1">
                <a:tableStyleId>{5940675A-B579-460E-94D1-54222C63F5DA}</a:tableStyleId>
              </a:tblPr>
              <a:tblGrid>
                <a:gridCol w="1279210"/>
                <a:gridCol w="1174329"/>
                <a:gridCol w="1218030"/>
                <a:gridCol w="1368991"/>
              </a:tblGrid>
              <a:tr h="411393">
                <a:tc>
                  <a:txBody>
                    <a:bodyPr/>
                    <a:lstStyle/>
                    <a:p>
                      <a:pPr>
                        <a:spcBef>
                          <a:spcPts val="120"/>
                        </a:spcBef>
                        <a:spcAft>
                          <a:spcPts val="0"/>
                        </a:spcAft>
                      </a:pPr>
                      <a:r>
                        <a:rPr lang="en-US" sz="900" b="1" dirty="0">
                          <a:effectLst/>
                        </a:rPr>
                        <a:t> </a:t>
                      </a:r>
                      <a:endParaRPr lang="en-IN" sz="1000" b="1" dirty="0">
                        <a:effectLst/>
                      </a:endParaRPr>
                    </a:p>
                    <a:p>
                      <a:pPr marL="171450">
                        <a:spcAft>
                          <a:spcPts val="0"/>
                        </a:spcAft>
                      </a:pPr>
                      <a:r>
                        <a:rPr lang="en-US" sz="900" b="1" spc="-10" dirty="0">
                          <a:effectLst/>
                        </a:rPr>
                        <a:t>FEATURES</a:t>
                      </a:r>
                      <a:endParaRPr lang="en-IN" sz="1000" b="1" dirty="0">
                        <a:effectLst/>
                        <a:latin typeface="Times New Roman"/>
                        <a:ea typeface="Times New Roman"/>
                        <a:cs typeface="Times New Roman"/>
                      </a:endParaRPr>
                    </a:p>
                  </a:txBody>
                  <a:tcPr marL="0" marR="0" marT="0" marB="0"/>
                </a:tc>
                <a:tc>
                  <a:txBody>
                    <a:bodyPr/>
                    <a:lstStyle/>
                    <a:p>
                      <a:pPr>
                        <a:spcBef>
                          <a:spcPts val="120"/>
                        </a:spcBef>
                        <a:spcAft>
                          <a:spcPts val="0"/>
                        </a:spcAft>
                      </a:pPr>
                      <a:r>
                        <a:rPr lang="en-US" sz="900" b="1" dirty="0">
                          <a:effectLst/>
                        </a:rPr>
                        <a:t> </a:t>
                      </a:r>
                      <a:endParaRPr lang="en-IN" sz="1000" b="1" dirty="0">
                        <a:effectLst/>
                      </a:endParaRPr>
                    </a:p>
                    <a:p>
                      <a:pPr marL="13335" marR="3175" algn="ctr">
                        <a:spcAft>
                          <a:spcPts val="0"/>
                        </a:spcAft>
                      </a:pPr>
                      <a:r>
                        <a:rPr lang="en-US" sz="900" b="1" dirty="0">
                          <a:effectLst/>
                        </a:rPr>
                        <a:t>VGG 16</a:t>
                      </a:r>
                      <a:endParaRPr lang="en-IN" sz="1000" b="1" dirty="0">
                        <a:effectLst/>
                        <a:latin typeface="Times New Roman"/>
                        <a:ea typeface="Times New Roman"/>
                        <a:cs typeface="Times New Roman"/>
                      </a:endParaRPr>
                    </a:p>
                  </a:txBody>
                  <a:tcPr marL="0" marR="0" marT="0" marB="0"/>
                </a:tc>
                <a:tc>
                  <a:txBody>
                    <a:bodyPr/>
                    <a:lstStyle/>
                    <a:p>
                      <a:pPr>
                        <a:spcBef>
                          <a:spcPts val="120"/>
                        </a:spcBef>
                        <a:spcAft>
                          <a:spcPts val="0"/>
                        </a:spcAft>
                      </a:pPr>
                      <a:r>
                        <a:rPr lang="en-US" sz="900" b="1" dirty="0">
                          <a:effectLst/>
                        </a:rPr>
                        <a:t> </a:t>
                      </a:r>
                      <a:endParaRPr lang="en-IN" sz="1000" b="1" dirty="0">
                        <a:effectLst/>
                      </a:endParaRPr>
                    </a:p>
                    <a:p>
                      <a:pPr marL="13335" marR="1270" algn="ctr">
                        <a:spcAft>
                          <a:spcPts val="0"/>
                        </a:spcAft>
                      </a:pPr>
                      <a:r>
                        <a:rPr lang="en-US" sz="900" b="1" spc="-20" dirty="0">
                          <a:effectLst/>
                        </a:rPr>
                        <a:t>Inception V3</a:t>
                      </a:r>
                      <a:endParaRPr lang="en-IN" sz="1000" b="1" dirty="0">
                        <a:effectLst/>
                        <a:latin typeface="Times New Roman"/>
                        <a:ea typeface="Times New Roman"/>
                        <a:cs typeface="Times New Roman"/>
                      </a:endParaRPr>
                    </a:p>
                  </a:txBody>
                  <a:tcPr marL="0" marR="0" marT="0" marB="0"/>
                </a:tc>
                <a:tc>
                  <a:txBody>
                    <a:bodyPr/>
                    <a:lstStyle/>
                    <a:p>
                      <a:pPr>
                        <a:spcBef>
                          <a:spcPts val="120"/>
                        </a:spcBef>
                        <a:spcAft>
                          <a:spcPts val="0"/>
                        </a:spcAft>
                      </a:pPr>
                      <a:r>
                        <a:rPr lang="en-US" sz="900" b="1" dirty="0">
                          <a:effectLst/>
                        </a:rPr>
                        <a:t> </a:t>
                      </a:r>
                      <a:endParaRPr lang="en-IN" sz="1000" b="1" dirty="0">
                        <a:effectLst/>
                      </a:endParaRPr>
                    </a:p>
                    <a:p>
                      <a:pPr marL="13970" marR="635" algn="ctr">
                        <a:spcAft>
                          <a:spcPts val="0"/>
                        </a:spcAft>
                      </a:pPr>
                      <a:r>
                        <a:rPr lang="en-US" sz="900" b="1" spc="-10" dirty="0">
                          <a:effectLst/>
                        </a:rPr>
                        <a:t>ResNet50</a:t>
                      </a:r>
                      <a:endParaRPr lang="en-IN" sz="1000" b="1" dirty="0">
                        <a:effectLst/>
                        <a:latin typeface="Times New Roman"/>
                        <a:ea typeface="Times New Roman"/>
                        <a:cs typeface="Times New Roman"/>
                      </a:endParaRPr>
                    </a:p>
                  </a:txBody>
                  <a:tcPr marL="0" marR="0" marT="0" marB="0"/>
                </a:tc>
              </a:tr>
              <a:tr h="485567">
                <a:tc>
                  <a:txBody>
                    <a:bodyPr/>
                    <a:lstStyle/>
                    <a:p>
                      <a:pPr marL="67945">
                        <a:spcBef>
                          <a:spcPts val="45"/>
                        </a:spcBef>
                        <a:spcAft>
                          <a:spcPts val="0"/>
                        </a:spcAft>
                      </a:pPr>
                      <a:r>
                        <a:rPr lang="en-US" sz="900" b="1" spc="-10" dirty="0">
                          <a:effectLst/>
                        </a:rPr>
                        <a:t>Grid-based</a:t>
                      </a:r>
                      <a:endParaRPr lang="en-IN" sz="1000" b="1" dirty="0">
                        <a:effectLst/>
                      </a:endParaRPr>
                    </a:p>
                    <a:p>
                      <a:pPr marL="67945">
                        <a:spcBef>
                          <a:spcPts val="580"/>
                        </a:spcBef>
                        <a:spcAft>
                          <a:spcPts val="0"/>
                        </a:spcAft>
                      </a:pPr>
                      <a:r>
                        <a:rPr lang="en-US" sz="900" b="1" spc="-10" dirty="0">
                          <a:effectLst/>
                        </a:rPr>
                        <a:t>Detection</a:t>
                      </a:r>
                      <a:endParaRPr lang="en-IN" sz="1000" b="1" dirty="0">
                        <a:effectLst/>
                        <a:latin typeface="Times New Roman"/>
                        <a:ea typeface="Times New Roman"/>
                        <a:cs typeface="Times New Roman"/>
                      </a:endParaRPr>
                    </a:p>
                  </a:txBody>
                  <a:tcPr marL="0" marR="0" marT="0" marB="0"/>
                </a:tc>
                <a:tc>
                  <a:txBody>
                    <a:bodyPr/>
                    <a:lstStyle/>
                    <a:p>
                      <a:pPr marL="13335" marR="1905" algn="ctr">
                        <a:spcBef>
                          <a:spcPts val="4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335" marR="1270" algn="ctr">
                        <a:spcBef>
                          <a:spcPts val="4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c>
                  <a:txBody>
                    <a:bodyPr/>
                    <a:lstStyle/>
                    <a:p>
                      <a:pPr marL="13970" algn="ctr">
                        <a:spcBef>
                          <a:spcPts val="4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r>
              <a:tr h="483508">
                <a:tc>
                  <a:txBody>
                    <a:bodyPr/>
                    <a:lstStyle/>
                    <a:p>
                      <a:pPr marL="67945">
                        <a:spcBef>
                          <a:spcPts val="35"/>
                        </a:spcBef>
                        <a:spcAft>
                          <a:spcPts val="0"/>
                        </a:spcAft>
                      </a:pPr>
                      <a:r>
                        <a:rPr lang="en-US" sz="900" b="1" dirty="0">
                          <a:effectLst/>
                        </a:rPr>
                        <a:t>Bounding</a:t>
                      </a:r>
                      <a:r>
                        <a:rPr lang="en-US" sz="900" b="1" spc="-50" dirty="0">
                          <a:effectLst/>
                        </a:rPr>
                        <a:t> </a:t>
                      </a:r>
                      <a:r>
                        <a:rPr lang="en-US" sz="900" b="1" spc="-25" dirty="0">
                          <a:effectLst/>
                        </a:rPr>
                        <a:t>Box</a:t>
                      </a:r>
                      <a:endParaRPr lang="en-IN" sz="1000" b="1" dirty="0">
                        <a:effectLst/>
                      </a:endParaRPr>
                    </a:p>
                    <a:p>
                      <a:pPr marL="67945">
                        <a:spcBef>
                          <a:spcPts val="580"/>
                        </a:spcBef>
                        <a:spcAft>
                          <a:spcPts val="0"/>
                        </a:spcAft>
                      </a:pPr>
                      <a:r>
                        <a:rPr lang="en-US" sz="900" b="1" spc="-10" dirty="0">
                          <a:effectLst/>
                        </a:rPr>
                        <a:t>Prediction</a:t>
                      </a:r>
                      <a:endParaRPr lang="en-IN" sz="1000" b="1" dirty="0">
                        <a:effectLst/>
                        <a:latin typeface="Times New Roman"/>
                        <a:ea typeface="Times New Roman"/>
                        <a:cs typeface="Times New Roman"/>
                      </a:endParaRPr>
                    </a:p>
                  </a:txBody>
                  <a:tcPr marL="0" marR="0" marT="0" marB="0"/>
                </a:tc>
                <a:tc>
                  <a:txBody>
                    <a:bodyPr/>
                    <a:lstStyle/>
                    <a:p>
                      <a:pPr marL="13335" marR="1905" algn="ctr">
                        <a:spcBef>
                          <a:spcPts val="3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335" marR="1270" algn="ctr">
                        <a:spcBef>
                          <a:spcPts val="3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c>
                  <a:txBody>
                    <a:bodyPr/>
                    <a:lstStyle/>
                    <a:p>
                      <a:pPr marL="13970" algn="ctr">
                        <a:spcBef>
                          <a:spcPts val="3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r>
              <a:tr h="563177">
                <a:tc>
                  <a:txBody>
                    <a:bodyPr/>
                    <a:lstStyle/>
                    <a:p>
                      <a:pPr marL="67945">
                        <a:spcBef>
                          <a:spcPts val="55"/>
                        </a:spcBef>
                        <a:spcAft>
                          <a:spcPts val="0"/>
                        </a:spcAft>
                      </a:pPr>
                      <a:r>
                        <a:rPr lang="en-US" sz="1000" b="1" spc="-10" dirty="0">
                          <a:effectLst/>
                        </a:rPr>
                        <a:t>Real-</a:t>
                      </a:r>
                      <a:r>
                        <a:rPr lang="en-US" sz="1000" b="1" spc="-20" dirty="0">
                          <a:effectLst/>
                        </a:rPr>
                        <a:t>time</a:t>
                      </a:r>
                      <a:endParaRPr lang="en-IN" sz="1000" b="1" dirty="0">
                        <a:effectLst/>
                      </a:endParaRPr>
                    </a:p>
                    <a:p>
                      <a:pPr marL="67945">
                        <a:spcBef>
                          <a:spcPts val="670"/>
                        </a:spcBef>
                        <a:spcAft>
                          <a:spcPts val="0"/>
                        </a:spcAft>
                      </a:pPr>
                      <a:r>
                        <a:rPr lang="en-US" sz="1000" b="1" spc="-10" dirty="0">
                          <a:effectLst/>
                        </a:rPr>
                        <a:t>Detection</a:t>
                      </a:r>
                      <a:endParaRPr lang="en-IN" sz="1000" b="1" dirty="0">
                        <a:effectLst/>
                        <a:latin typeface="Times New Roman"/>
                        <a:ea typeface="Times New Roman"/>
                        <a:cs typeface="Times New Roman"/>
                      </a:endParaRPr>
                    </a:p>
                  </a:txBody>
                  <a:tcPr marL="0" marR="0" marT="0" marB="0"/>
                </a:tc>
                <a:tc>
                  <a:txBody>
                    <a:bodyPr/>
                    <a:lstStyle/>
                    <a:p>
                      <a:pPr marL="13335" algn="ctr">
                        <a:spcBef>
                          <a:spcPts val="55"/>
                        </a:spcBef>
                        <a:spcAft>
                          <a:spcPts val="0"/>
                        </a:spcAft>
                      </a:pPr>
                      <a:r>
                        <a:rPr lang="en-US" sz="10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335" marR="1905" algn="ctr">
                        <a:spcBef>
                          <a:spcPts val="55"/>
                        </a:spcBef>
                        <a:spcAft>
                          <a:spcPts val="0"/>
                        </a:spcAft>
                      </a:pPr>
                      <a:r>
                        <a:rPr lang="en-US" sz="1000" b="1" spc="-25" dirty="0">
                          <a:effectLst/>
                        </a:rPr>
                        <a:t>NO</a:t>
                      </a:r>
                      <a:endParaRPr lang="en-IN" sz="1000" b="1" dirty="0">
                        <a:effectLst/>
                        <a:latin typeface="Times New Roman"/>
                        <a:ea typeface="Times New Roman"/>
                        <a:cs typeface="Times New Roman"/>
                      </a:endParaRPr>
                    </a:p>
                  </a:txBody>
                  <a:tcPr marL="0" marR="0" marT="0" marB="0"/>
                </a:tc>
                <a:tc>
                  <a:txBody>
                    <a:bodyPr/>
                    <a:lstStyle/>
                    <a:p>
                      <a:pPr marL="13970" marR="635" algn="ctr">
                        <a:spcBef>
                          <a:spcPts val="55"/>
                        </a:spcBef>
                        <a:spcAft>
                          <a:spcPts val="0"/>
                        </a:spcAft>
                      </a:pPr>
                      <a:r>
                        <a:rPr lang="en-US" sz="1000" b="1" spc="-25" dirty="0">
                          <a:effectLst/>
                        </a:rPr>
                        <a:t>NO</a:t>
                      </a:r>
                      <a:endParaRPr lang="en-IN" sz="1000" b="1" dirty="0">
                        <a:effectLst/>
                        <a:latin typeface="Times New Roman"/>
                        <a:ea typeface="Times New Roman"/>
                        <a:cs typeface="Times New Roman"/>
                      </a:endParaRPr>
                    </a:p>
                  </a:txBody>
                  <a:tcPr marL="0" marR="0" marT="0" marB="0"/>
                </a:tc>
              </a:tr>
              <a:tr h="483508">
                <a:tc>
                  <a:txBody>
                    <a:bodyPr/>
                    <a:lstStyle/>
                    <a:p>
                      <a:pPr marL="67945">
                        <a:spcBef>
                          <a:spcPts val="35"/>
                        </a:spcBef>
                        <a:spcAft>
                          <a:spcPts val="0"/>
                        </a:spcAft>
                      </a:pPr>
                      <a:r>
                        <a:rPr lang="en-US" sz="900" b="1" spc="-10" dirty="0">
                          <a:effectLst/>
                        </a:rPr>
                        <a:t>Hierarchical</a:t>
                      </a:r>
                      <a:endParaRPr lang="en-IN" sz="1000" b="1" dirty="0">
                        <a:effectLst/>
                      </a:endParaRPr>
                    </a:p>
                    <a:p>
                      <a:pPr marL="67945">
                        <a:spcBef>
                          <a:spcPts val="580"/>
                        </a:spcBef>
                        <a:spcAft>
                          <a:spcPts val="0"/>
                        </a:spcAft>
                      </a:pPr>
                      <a:r>
                        <a:rPr lang="en-US" sz="900" b="1" spc="-10" dirty="0">
                          <a:effectLst/>
                        </a:rPr>
                        <a:t>Features</a:t>
                      </a:r>
                      <a:endParaRPr lang="en-IN" sz="1000" b="1" dirty="0">
                        <a:effectLst/>
                        <a:latin typeface="Times New Roman"/>
                        <a:ea typeface="Times New Roman"/>
                        <a:cs typeface="Times New Roman"/>
                      </a:endParaRPr>
                    </a:p>
                  </a:txBody>
                  <a:tcPr marL="0" marR="0" marT="0" marB="0"/>
                </a:tc>
                <a:tc>
                  <a:txBody>
                    <a:bodyPr/>
                    <a:lstStyle/>
                    <a:p>
                      <a:pPr marL="13335" marR="635" algn="ctr">
                        <a:spcBef>
                          <a:spcPts val="3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c>
                  <a:txBody>
                    <a:bodyPr/>
                    <a:lstStyle/>
                    <a:p>
                      <a:pPr marL="13335" algn="ctr">
                        <a:spcBef>
                          <a:spcPts val="3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970" marR="1270" algn="ctr">
                        <a:spcBef>
                          <a:spcPts val="3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r>
              <a:tr h="483508">
                <a:tc>
                  <a:txBody>
                    <a:bodyPr/>
                    <a:lstStyle/>
                    <a:p>
                      <a:pPr marL="67945">
                        <a:spcBef>
                          <a:spcPts val="35"/>
                        </a:spcBef>
                        <a:spcAft>
                          <a:spcPts val="0"/>
                        </a:spcAft>
                      </a:pPr>
                      <a:r>
                        <a:rPr lang="en-US" sz="900" b="1" spc="-10" dirty="0">
                          <a:effectLst/>
                        </a:rPr>
                        <a:t>Convolutional</a:t>
                      </a:r>
                      <a:endParaRPr lang="en-IN" sz="1000" b="1" dirty="0">
                        <a:effectLst/>
                      </a:endParaRPr>
                    </a:p>
                    <a:p>
                      <a:pPr marL="67945">
                        <a:spcBef>
                          <a:spcPts val="580"/>
                        </a:spcBef>
                        <a:spcAft>
                          <a:spcPts val="0"/>
                        </a:spcAft>
                      </a:pPr>
                      <a:r>
                        <a:rPr lang="en-US" sz="900" b="1" spc="-10" dirty="0">
                          <a:effectLst/>
                        </a:rPr>
                        <a:t>Layers</a:t>
                      </a:r>
                      <a:endParaRPr lang="en-IN" sz="1000" b="1" dirty="0">
                        <a:effectLst/>
                        <a:latin typeface="Times New Roman"/>
                        <a:ea typeface="Times New Roman"/>
                        <a:cs typeface="Times New Roman"/>
                      </a:endParaRPr>
                    </a:p>
                  </a:txBody>
                  <a:tcPr marL="0" marR="0" marT="0" marB="0"/>
                </a:tc>
                <a:tc>
                  <a:txBody>
                    <a:bodyPr/>
                    <a:lstStyle/>
                    <a:p>
                      <a:pPr marL="13335" marR="635" algn="ctr">
                        <a:spcBef>
                          <a:spcPts val="3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c>
                  <a:txBody>
                    <a:bodyPr/>
                    <a:lstStyle/>
                    <a:p>
                      <a:pPr marL="13335" algn="ctr">
                        <a:spcBef>
                          <a:spcPts val="3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970" marR="1270" algn="ctr">
                        <a:spcBef>
                          <a:spcPts val="3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r>
              <a:tr h="483508">
                <a:tc>
                  <a:txBody>
                    <a:bodyPr/>
                    <a:lstStyle/>
                    <a:p>
                      <a:pPr marL="67945">
                        <a:spcBef>
                          <a:spcPts val="45"/>
                        </a:spcBef>
                        <a:spcAft>
                          <a:spcPts val="0"/>
                        </a:spcAft>
                      </a:pPr>
                      <a:r>
                        <a:rPr lang="en-US" sz="900" b="1" spc="-20" dirty="0">
                          <a:effectLst/>
                        </a:rPr>
                        <a:t>Skip</a:t>
                      </a:r>
                      <a:endParaRPr lang="en-IN" sz="1000" b="1" dirty="0">
                        <a:effectLst/>
                      </a:endParaRPr>
                    </a:p>
                    <a:p>
                      <a:pPr marL="67945">
                        <a:spcBef>
                          <a:spcPts val="570"/>
                        </a:spcBef>
                        <a:spcAft>
                          <a:spcPts val="0"/>
                        </a:spcAft>
                      </a:pPr>
                      <a:r>
                        <a:rPr lang="en-US" sz="900" b="1" spc="-10" dirty="0">
                          <a:effectLst/>
                        </a:rPr>
                        <a:t>Connections</a:t>
                      </a:r>
                      <a:endParaRPr lang="en-IN" sz="1000" b="1" dirty="0">
                        <a:effectLst/>
                        <a:latin typeface="Times New Roman"/>
                        <a:ea typeface="Times New Roman"/>
                        <a:cs typeface="Times New Roman"/>
                      </a:endParaRPr>
                    </a:p>
                  </a:txBody>
                  <a:tcPr marL="0" marR="0" marT="0" marB="0"/>
                </a:tc>
                <a:tc>
                  <a:txBody>
                    <a:bodyPr/>
                    <a:lstStyle/>
                    <a:p>
                      <a:pPr marL="13335" marR="635" algn="ctr">
                        <a:spcBef>
                          <a:spcPts val="4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c>
                  <a:txBody>
                    <a:bodyPr/>
                    <a:lstStyle/>
                    <a:p>
                      <a:pPr marL="13335" marR="1270" algn="ctr">
                        <a:spcBef>
                          <a:spcPts val="4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c>
                  <a:txBody>
                    <a:bodyPr/>
                    <a:lstStyle/>
                    <a:p>
                      <a:pPr marL="13970" marR="1270" algn="ctr">
                        <a:spcBef>
                          <a:spcPts val="4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r>
              <a:tr h="483508">
                <a:tc>
                  <a:txBody>
                    <a:bodyPr/>
                    <a:lstStyle/>
                    <a:p>
                      <a:pPr marL="67945">
                        <a:spcBef>
                          <a:spcPts val="45"/>
                        </a:spcBef>
                        <a:spcAft>
                          <a:spcPts val="0"/>
                        </a:spcAft>
                      </a:pPr>
                      <a:r>
                        <a:rPr lang="en-US" sz="900" b="1" spc="-10" dirty="0">
                          <a:effectLst/>
                        </a:rPr>
                        <a:t>Transfer</a:t>
                      </a:r>
                      <a:endParaRPr lang="en-IN" sz="1000" b="1" dirty="0">
                        <a:effectLst/>
                      </a:endParaRPr>
                    </a:p>
                    <a:p>
                      <a:pPr marL="67945">
                        <a:spcBef>
                          <a:spcPts val="570"/>
                        </a:spcBef>
                        <a:spcAft>
                          <a:spcPts val="0"/>
                        </a:spcAft>
                      </a:pPr>
                      <a:r>
                        <a:rPr lang="en-US" sz="900" b="1" spc="-10" dirty="0">
                          <a:effectLst/>
                        </a:rPr>
                        <a:t>Learning</a:t>
                      </a:r>
                      <a:endParaRPr lang="en-IN" sz="1000" b="1" dirty="0">
                        <a:effectLst/>
                        <a:latin typeface="Times New Roman"/>
                        <a:ea typeface="Times New Roman"/>
                        <a:cs typeface="Times New Roman"/>
                      </a:endParaRPr>
                    </a:p>
                  </a:txBody>
                  <a:tcPr marL="0" marR="0" marT="0" marB="0"/>
                </a:tc>
                <a:tc>
                  <a:txBody>
                    <a:bodyPr/>
                    <a:lstStyle/>
                    <a:p>
                      <a:pPr marL="13335" marR="635" algn="ctr">
                        <a:spcBef>
                          <a:spcPts val="45"/>
                        </a:spcBef>
                        <a:spcAft>
                          <a:spcPts val="0"/>
                        </a:spcAft>
                      </a:pPr>
                      <a:r>
                        <a:rPr lang="en-US" sz="900" b="1" spc="-25" dirty="0">
                          <a:effectLst/>
                        </a:rPr>
                        <a:t>NO</a:t>
                      </a:r>
                      <a:endParaRPr lang="en-IN" sz="1000" b="1" dirty="0">
                        <a:effectLst/>
                        <a:latin typeface="Times New Roman"/>
                        <a:ea typeface="Times New Roman"/>
                        <a:cs typeface="Times New Roman"/>
                      </a:endParaRPr>
                    </a:p>
                  </a:txBody>
                  <a:tcPr marL="0" marR="0" marT="0" marB="0"/>
                </a:tc>
                <a:tc>
                  <a:txBody>
                    <a:bodyPr/>
                    <a:lstStyle/>
                    <a:p>
                      <a:pPr marL="13335" algn="ctr">
                        <a:spcBef>
                          <a:spcPts val="4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970" marR="1270" algn="ctr">
                        <a:spcBef>
                          <a:spcPts val="4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r>
              <a:tr h="648340">
                <a:tc>
                  <a:txBody>
                    <a:bodyPr/>
                    <a:lstStyle/>
                    <a:p>
                      <a:pPr marL="67945">
                        <a:lnSpc>
                          <a:spcPct val="148000"/>
                        </a:lnSpc>
                        <a:spcBef>
                          <a:spcPts val="45"/>
                        </a:spcBef>
                        <a:spcAft>
                          <a:spcPts val="0"/>
                        </a:spcAft>
                      </a:pPr>
                      <a:r>
                        <a:rPr lang="en-US" sz="900" b="1" spc="-10" dirty="0">
                          <a:effectLst/>
                        </a:rPr>
                        <a:t>Multi-class Classification</a:t>
                      </a:r>
                      <a:endParaRPr lang="en-IN" sz="1000" b="1" dirty="0">
                        <a:effectLst/>
                        <a:latin typeface="Times New Roman"/>
                        <a:ea typeface="Times New Roman"/>
                        <a:cs typeface="Times New Roman"/>
                      </a:endParaRPr>
                    </a:p>
                  </a:txBody>
                  <a:tcPr marL="0" marR="0" marT="0" marB="0"/>
                </a:tc>
                <a:tc>
                  <a:txBody>
                    <a:bodyPr/>
                    <a:lstStyle/>
                    <a:p>
                      <a:pPr marL="13335" marR="1905" algn="ctr">
                        <a:spcBef>
                          <a:spcPts val="4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335" algn="ctr">
                        <a:spcBef>
                          <a:spcPts val="4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970" marR="1270" algn="ctr">
                        <a:spcBef>
                          <a:spcPts val="4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r>
              <a:tr h="874587">
                <a:tc>
                  <a:txBody>
                    <a:bodyPr/>
                    <a:lstStyle/>
                    <a:p>
                      <a:pPr marL="67945" marR="425450">
                        <a:lnSpc>
                          <a:spcPct val="150000"/>
                        </a:lnSpc>
                        <a:spcBef>
                          <a:spcPts val="35"/>
                        </a:spcBef>
                        <a:spcAft>
                          <a:spcPts val="0"/>
                        </a:spcAft>
                      </a:pPr>
                      <a:r>
                        <a:rPr lang="en-US" sz="900" b="1" spc="-10" dirty="0">
                          <a:effectLst/>
                        </a:rPr>
                        <a:t>Efficient Parameter</a:t>
                      </a:r>
                      <a:endParaRPr lang="en-IN" sz="1000" b="1" dirty="0">
                        <a:effectLst/>
                      </a:endParaRPr>
                    </a:p>
                    <a:p>
                      <a:pPr marL="67945">
                        <a:spcBef>
                          <a:spcPts val="5"/>
                        </a:spcBef>
                        <a:spcAft>
                          <a:spcPts val="0"/>
                        </a:spcAft>
                      </a:pPr>
                      <a:r>
                        <a:rPr lang="en-US" sz="900" b="1" spc="-10" dirty="0">
                          <a:effectLst/>
                        </a:rPr>
                        <a:t>Optimization</a:t>
                      </a:r>
                      <a:endParaRPr lang="en-IN" sz="1000" b="1" dirty="0">
                        <a:effectLst/>
                        <a:latin typeface="Times New Roman"/>
                        <a:ea typeface="Times New Roman"/>
                        <a:cs typeface="Times New Roman"/>
                      </a:endParaRPr>
                    </a:p>
                  </a:txBody>
                  <a:tcPr marL="0" marR="0" marT="0" marB="0"/>
                </a:tc>
                <a:tc>
                  <a:txBody>
                    <a:bodyPr/>
                    <a:lstStyle/>
                    <a:p>
                      <a:pPr marL="13335" marR="1905" algn="ctr">
                        <a:spcBef>
                          <a:spcPts val="3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335" algn="ctr">
                        <a:spcBef>
                          <a:spcPts val="3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c>
                  <a:txBody>
                    <a:bodyPr/>
                    <a:lstStyle/>
                    <a:p>
                      <a:pPr marL="13970" marR="1270" algn="ctr">
                        <a:spcBef>
                          <a:spcPts val="35"/>
                        </a:spcBef>
                        <a:spcAft>
                          <a:spcPts val="0"/>
                        </a:spcAft>
                      </a:pPr>
                      <a:r>
                        <a:rPr lang="en-US" sz="900" b="1" spc="-25" dirty="0">
                          <a:effectLst/>
                        </a:rPr>
                        <a:t>YES</a:t>
                      </a:r>
                      <a:endParaRPr lang="en-IN" sz="1000" b="1" dirty="0">
                        <a:effectLst/>
                        <a:latin typeface="Times New Roman"/>
                        <a:ea typeface="Times New Roman"/>
                        <a:cs typeface="Times New Roman"/>
                      </a:endParaRPr>
                    </a:p>
                  </a:txBody>
                  <a:tcPr marL="0" marR="0" marT="0" marB="0"/>
                </a:tc>
              </a:tr>
            </a:tbl>
          </a:graphicData>
        </a:graphic>
      </p:graphicFrame>
      <p:sp>
        <p:nvSpPr>
          <p:cNvPr id="2" name="Title 1"/>
          <p:cNvSpPr>
            <a:spLocks noGrp="1"/>
          </p:cNvSpPr>
          <p:nvPr>
            <p:ph type="title"/>
          </p:nvPr>
        </p:nvSpPr>
        <p:spPr>
          <a:xfrm>
            <a:off x="1259632" y="44624"/>
            <a:ext cx="6624736" cy="1143000"/>
          </a:xfrm>
        </p:spPr>
        <p:txBody>
          <a:bodyPr>
            <a:noAutofit/>
          </a:bodyPr>
          <a:lstStyle/>
          <a:p>
            <a:pPr lvl="2" algn="ctr" rtl="0">
              <a:spcBef>
                <a:spcPct val="0"/>
              </a:spcBef>
            </a:pPr>
            <a:r>
              <a:rPr lang="en-US" sz="3200" b="1" dirty="0">
                <a:latin typeface="Times New Roman" panose="02020603050405020304" pitchFamily="18" charset="0"/>
                <a:cs typeface="Times New Roman" panose="02020603050405020304" pitchFamily="18" charset="0"/>
              </a:rPr>
              <a:t>FEATURES </a:t>
            </a:r>
            <a:r>
              <a:rPr lang="en-US" sz="3200" b="1" dirty="0" smtClean="0">
                <a:latin typeface="Times New Roman" panose="02020603050405020304" pitchFamily="18" charset="0"/>
                <a:cs typeface="Times New Roman" panose="02020603050405020304" pitchFamily="18" charset="0"/>
              </a:rPr>
              <a:t>IDENTIFICATION</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4204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Fig. 5."/>
          <p:cNvPicPr>
            <a:picLocks noGrp="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3364019" y="2674938"/>
            <a:ext cx="2423900" cy="3451225"/>
          </a:xfrm>
          <a:prstGeom prst="rect">
            <a:avLst/>
          </a:prstGeom>
          <a:noFill/>
          <a:ln>
            <a:noFill/>
          </a:ln>
        </p:spPr>
      </p:pic>
      <p:sp>
        <p:nvSpPr>
          <p:cNvPr id="2" name="Title 1"/>
          <p:cNvSpPr>
            <a:spLocks noGrp="1"/>
          </p:cNvSpPr>
          <p:nvPr>
            <p:ph type="title"/>
          </p:nvPr>
        </p:nvSpPr>
        <p:spPr/>
        <p:txBody>
          <a:bodyPr>
            <a:normAutofit/>
          </a:bodyPr>
          <a:lstStyle/>
          <a:p>
            <a:r>
              <a:rPr lang="en-US" sz="3200" b="1" dirty="0" smtClean="0">
                <a:latin typeface="Times New Roman" panose="02020603050405020304" pitchFamily="18" charset="0"/>
                <a:cs typeface="Times New Roman" panose="02020603050405020304" pitchFamily="18" charset="0"/>
              </a:rPr>
              <a:t>TUMOR IMAGES IDENTIFICATION</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729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marL="0" indent="0">
              <a:buNone/>
            </a:pPr>
            <a:r>
              <a:rPr lang="en-IN" sz="2200" dirty="0">
                <a:latin typeface="Times New Roman" panose="02020603050405020304" pitchFamily="18" charset="0"/>
                <a:cs typeface="Times New Roman" panose="02020603050405020304" pitchFamily="18" charset="0"/>
              </a:rPr>
              <a:t>The proposed system design for brain </a:t>
            </a:r>
            <a:r>
              <a:rPr lang="en-IN" sz="2200" dirty="0" err="1">
                <a:latin typeface="Times New Roman" panose="02020603050405020304" pitchFamily="18" charset="0"/>
                <a:cs typeface="Times New Roman" panose="02020603050405020304" pitchFamily="18" charset="0"/>
              </a:rPr>
              <a:t>tumor</a:t>
            </a:r>
            <a:r>
              <a:rPr lang="en-IN" sz="2200" dirty="0">
                <a:latin typeface="Times New Roman" panose="02020603050405020304" pitchFamily="18" charset="0"/>
                <a:cs typeface="Times New Roman" panose="02020603050405020304" pitchFamily="18" charset="0"/>
              </a:rPr>
              <a:t> detection includes steps such as data collection, </a:t>
            </a:r>
            <a:r>
              <a:rPr lang="en-IN" sz="2200" dirty="0" err="1">
                <a:latin typeface="Times New Roman" panose="02020603050405020304" pitchFamily="18" charset="0"/>
                <a:cs typeface="Times New Roman" panose="02020603050405020304" pitchFamily="18" charset="0"/>
              </a:rPr>
              <a:t>preprocessing</a:t>
            </a:r>
            <a:r>
              <a:rPr lang="en-IN" sz="2200" dirty="0">
                <a:latin typeface="Times New Roman" panose="02020603050405020304" pitchFamily="18" charset="0"/>
                <a:cs typeface="Times New Roman" panose="02020603050405020304" pitchFamily="18" charset="0"/>
              </a:rPr>
              <a:t>, model training, evaluation, and deployment. Each step ensures the system is accurate, efficient, and robust.</a:t>
            </a:r>
          </a:p>
          <a:p>
            <a:pPr lvl="0"/>
            <a:r>
              <a:rPr lang="en-IN" sz="2200" b="1" dirty="0">
                <a:latin typeface="Times New Roman" panose="02020603050405020304" pitchFamily="18" charset="0"/>
                <a:cs typeface="Times New Roman" panose="02020603050405020304" pitchFamily="18" charset="0"/>
              </a:rPr>
              <a:t>Enhanced Data Augmentation</a:t>
            </a:r>
            <a:r>
              <a:rPr lang="en-IN" sz="2200" dirty="0">
                <a:latin typeface="Times New Roman" panose="02020603050405020304" pitchFamily="18" charset="0"/>
                <a:cs typeface="Times New Roman" panose="02020603050405020304" pitchFamily="18" charset="0"/>
              </a:rPr>
              <a:t>: Implementing more sophisticated data augmentation techniques can help in creating a more diverse dataset, which can improve model generalization.</a:t>
            </a:r>
          </a:p>
          <a:p>
            <a:pPr lvl="0"/>
            <a:r>
              <a:rPr lang="en-IN" sz="2200" b="1" dirty="0">
                <a:latin typeface="Times New Roman" panose="02020603050405020304" pitchFamily="18" charset="0"/>
                <a:cs typeface="Times New Roman" panose="02020603050405020304" pitchFamily="18" charset="0"/>
              </a:rPr>
              <a:t>Multi-Modal Data Integration</a:t>
            </a:r>
            <a:r>
              <a:rPr lang="en-IN" sz="2200" dirty="0">
                <a:latin typeface="Times New Roman" panose="02020603050405020304" pitchFamily="18" charset="0"/>
                <a:cs typeface="Times New Roman" panose="02020603050405020304" pitchFamily="18" charset="0"/>
              </a:rPr>
              <a:t>: Integrating different types of data (e.g., MRI, genetic data, clinical records) can provide a comprehensive understanding of brain </a:t>
            </a:r>
            <a:r>
              <a:rPr lang="en-IN" sz="2200" dirty="0" err="1">
                <a:latin typeface="Times New Roman" panose="02020603050405020304" pitchFamily="18" charset="0"/>
                <a:cs typeface="Times New Roman" panose="02020603050405020304" pitchFamily="18" charset="0"/>
              </a:rPr>
              <a:t>tumors</a:t>
            </a:r>
            <a:r>
              <a:rPr lang="en-IN" sz="2200" dirty="0">
                <a:latin typeface="Times New Roman" panose="02020603050405020304" pitchFamily="18" charset="0"/>
                <a:cs typeface="Times New Roman" panose="02020603050405020304" pitchFamily="18" charset="0"/>
              </a:rPr>
              <a:t>, leading to better predictions.</a:t>
            </a:r>
          </a:p>
          <a:p>
            <a:pPr lvl="0"/>
            <a:r>
              <a:rPr lang="en-IN" sz="2200" b="1" dirty="0">
                <a:latin typeface="Times New Roman" panose="02020603050405020304" pitchFamily="18" charset="0"/>
                <a:cs typeface="Times New Roman" panose="02020603050405020304" pitchFamily="18" charset="0"/>
              </a:rPr>
              <a:t>Transfer Learning</a:t>
            </a:r>
            <a:r>
              <a:rPr lang="en-IN" sz="2200" dirty="0">
                <a:latin typeface="Times New Roman" panose="02020603050405020304" pitchFamily="18" charset="0"/>
                <a:cs typeface="Times New Roman" panose="02020603050405020304" pitchFamily="18" charset="0"/>
              </a:rPr>
              <a:t>: Using pre-trained models on large medical datasets and fine-tuning them for specific tasks can save time and resources while improving performance.</a:t>
            </a:r>
          </a:p>
          <a:p>
            <a:endParaRPr lang="en-IN" dirty="0"/>
          </a:p>
        </p:txBody>
      </p:sp>
      <p:sp>
        <p:nvSpPr>
          <p:cNvPr id="2" name="Title 1"/>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CONCLUSION AND FUTURE WORKS</a:t>
            </a:r>
            <a:endParaRPr lang="en-IN" sz="3200" b="1" dirty="0"/>
          </a:p>
        </p:txBody>
      </p:sp>
    </p:spTree>
    <p:extLst>
      <p:ext uri="{BB962C8B-B14F-4D97-AF65-F5344CB8AC3E}">
        <p14:creationId xmlns:p14="http://schemas.microsoft.com/office/powerpoint/2010/main" val="22227373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Trained Data  Tumors</a:t>
            </a:r>
            <a:endParaRPr lang="en-IN" dirty="0"/>
          </a:p>
        </p:txBody>
      </p:sp>
      <p:pic>
        <p:nvPicPr>
          <p:cNvPr id="3076" name="Picture 9" descr="Tr-gl_00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064" y="1589559"/>
            <a:ext cx="2228850" cy="222885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28" descr="Tr-me_00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4017987"/>
            <a:ext cx="2219325" cy="221932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9" descr="Tr-no_00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064" y="4003675"/>
            <a:ext cx="2295525" cy="2295525"/>
          </a:xfrm>
          <a:prstGeom prst="rect">
            <a:avLst/>
          </a:prstGeom>
          <a:noFill/>
          <a:extLst>
            <a:ext uri="{909E8E84-426E-40DD-AFC4-6F175D3DCCD1}">
              <a14:hiddenFill xmlns:a14="http://schemas.microsoft.com/office/drawing/2010/main">
                <a:solidFill>
                  <a:srgbClr val="FFFFFF"/>
                </a:solidFill>
              </a14:hiddenFill>
            </a:ext>
          </a:extLst>
        </p:spPr>
      </p:pic>
      <p:pic>
        <p:nvPicPr>
          <p:cNvPr id="3073" name="Picture 30" descr="Tr-pi_00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656" y="1484784"/>
            <a:ext cx="2228850" cy="233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03584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780928"/>
            <a:ext cx="8229600" cy="1143000"/>
          </a:xfrm>
        </p:spPr>
        <p:txBody>
          <a:bodyPr>
            <a:normAutofit/>
          </a:bodyPr>
          <a:lstStyle/>
          <a:p>
            <a:r>
              <a:rPr lang="en-US" b="1" dirty="0" smtClean="0">
                <a:solidFill>
                  <a:schemeClr val="tx2">
                    <a:lumMod val="10000"/>
                  </a:schemeClr>
                </a:solidFill>
                <a:latin typeface="Times New Roman" panose="02020603050405020304" pitchFamily="18" charset="0"/>
                <a:cs typeface="Times New Roman" panose="02020603050405020304" pitchFamily="18" charset="0"/>
              </a:rPr>
              <a:t>Thank </a:t>
            </a:r>
            <a:r>
              <a:rPr lang="en-US" b="1" dirty="0" err="1" smtClean="0">
                <a:solidFill>
                  <a:schemeClr val="tx2">
                    <a:lumMod val="10000"/>
                  </a:schemeClr>
                </a:solidFill>
                <a:latin typeface="Times New Roman" panose="02020603050405020304" pitchFamily="18" charset="0"/>
                <a:cs typeface="Times New Roman" panose="02020603050405020304" pitchFamily="18" charset="0"/>
              </a:rPr>
              <a:t>you</a:t>
            </a:r>
            <a:r>
              <a:rPr lang="en-US" b="1" dirty="0" err="1" smtClean="0">
                <a:latin typeface="Times New Roman" panose="02020603050405020304" pitchFamily="18" charset="0"/>
                <a:cs typeface="Times New Roman" panose="02020603050405020304" pitchFamily="18" charset="0"/>
              </a:rPr>
              <a:t>nk</a:t>
            </a:r>
            <a:r>
              <a:rPr lang="en-US" b="1"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You</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71881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88</TotalTime>
  <Words>1937</Words>
  <Application>Microsoft Office PowerPoint</Application>
  <PresentationFormat>On-screen Show (4:3)</PresentationFormat>
  <Paragraphs>177</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Waveform</vt:lpstr>
      <vt:lpstr>BRAIN TUMORS CLASSIFICATION USING DEEP LEARNING ALGORITHMS </vt:lpstr>
      <vt:lpstr>OBJECTIVES</vt:lpstr>
      <vt:lpstr>MOTIVATION</vt:lpstr>
      <vt:lpstr>Literature Survey</vt:lpstr>
      <vt:lpstr>PowerPoint Presentation</vt:lpstr>
      <vt:lpstr>PowerPoint Presentation</vt:lpstr>
      <vt:lpstr>PowerPoint Presentation</vt:lpstr>
      <vt:lpstr>Proposed System</vt:lpstr>
      <vt:lpstr>System Architecture</vt:lpstr>
      <vt:lpstr>PowerPoint Presentation</vt:lpstr>
      <vt:lpstr>Deep Learning</vt:lpstr>
      <vt:lpstr>ResNet-50</vt:lpstr>
      <vt:lpstr>Inception V3   Convolutional Neural Network (CNN)</vt:lpstr>
      <vt:lpstr>(VGG16) Visual Geometry Group-16</vt:lpstr>
      <vt:lpstr>Deep Belief Network (DBN)</vt:lpstr>
      <vt:lpstr>Output</vt:lpstr>
      <vt:lpstr>PERFORMANCE METRICS</vt:lpstr>
      <vt:lpstr>RESULTS</vt:lpstr>
      <vt:lpstr>CONFUSION MATRICS FOR VGG 16 ALGORITHM</vt:lpstr>
      <vt:lpstr>FEATURES IDENTIFICATION</vt:lpstr>
      <vt:lpstr>TUMOR IMAGES IDENTIFICATION</vt:lpstr>
      <vt:lpstr>CONCLUSION AND FUTURE WORKS</vt:lpstr>
      <vt:lpstr>Trained Data  Tumors</vt:lpstr>
      <vt:lpstr>Thank younk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CP4311 - PROJECT WORK I</dc:title>
  <dc:creator>W10</dc:creator>
  <cp:lastModifiedBy>W10</cp:lastModifiedBy>
  <cp:revision>10</cp:revision>
  <dcterms:created xsi:type="dcterms:W3CDTF">2025-02-25T05:39:07Z</dcterms:created>
  <dcterms:modified xsi:type="dcterms:W3CDTF">2025-06-23T06:12:34Z</dcterms:modified>
</cp:coreProperties>
</file>